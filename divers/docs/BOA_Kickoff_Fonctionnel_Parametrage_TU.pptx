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dBar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457200"/>
            <a:ext cx="3749040" cy="1645920"/>
          </a:xfrm>
          <a:prstGeom prst="rect">
            <a:avLst/>
          </a:prstGeom>
        </p:spPr>
      </p:pic>
      <p:sp>
        <p:nvSpPr>
          <p:cNvPr id="20" name="Line"/>
          <p:cNvSpPr/>
          <p:nvPr/>
        </p:nvSpPr>
        <p:spPr>
          <a:xfrm>
            <a:off x="2743200" y="2331720"/>
            <a:ext cx="6702552" cy="9144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4" name="T1"/>
          <p:cNvSpPr/>
          <p:nvPr/>
        </p:nvSpPr>
        <p:spPr>
          <a:xfrm>
            <a:off x="731520" y="25146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3600" b="1" dirty="0">
                <a:solidFill>
                  <a:srgbClr val="000000"/>
                </a:solidFill>
                <a:latin typeface="Arial" pitchFamily="34" charset="0"/>
              </a:rPr>
              <a:t>KICK-OFF FONCTIONNEL</a:t>
            </a:r>
            <a:endParaRPr lang="fr-FR" dirty="0"/>
          </a:p>
        </p:txBody>
      </p:sp>
      <p:sp>
        <p:nvSpPr>
          <p:cNvPr id="5" name="T2"/>
          <p:cNvSpPr/>
          <p:nvPr/>
        </p:nvSpPr>
        <p:spPr>
          <a:xfrm>
            <a:off x="731520" y="3246120"/>
            <a:ext cx="1072591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2800" b="1" dirty="0">
                <a:solidFill>
                  <a:srgbClr val="E63329"/>
                </a:solidFill>
                <a:latin typeface="Arial" pitchFamily="34" charset="0"/>
              </a:rPr>
              <a:t>BOA CÔTE D'IVOIRE  —  Site Pilote UEMOA</a:t>
            </a:r>
            <a:endParaRPr lang="fr-FR" dirty="0"/>
          </a:p>
        </p:txBody>
      </p:sp>
      <p:sp>
        <p:nvSpPr>
          <p:cNvPr id="6" name="T3"/>
          <p:cNvSpPr/>
          <p:nvPr/>
        </p:nvSpPr>
        <p:spPr>
          <a:xfrm>
            <a:off x="731520" y="3858768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1600" dirty="0">
                <a:solidFill>
                  <a:srgbClr val="54565A"/>
                </a:solidFill>
                <a:latin typeface="Arial" pitchFamily="34" charset="0"/>
              </a:rPr>
              <a:t>Paramétrage &amp; Tests Unitaires  |  Phase Build</a:t>
            </a:r>
            <a:endParaRPr lang="fr-FR" dirty="0"/>
          </a:p>
        </p:txBody>
      </p:sp>
      <p:sp>
        <p:nvSpPr>
          <p:cNvPr id="7" name="InfoBox"/>
          <p:cNvSpPr/>
          <p:nvPr/>
        </p:nvSpPr>
        <p:spPr>
          <a:xfrm>
            <a:off x="3474720" y="4462272"/>
            <a:ext cx="5239512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 wrap="square" lIns="182880" tIns="182880" rIns="182880" bIns="182880" rtlCol="0" anchor="ctr"/>
          <a:lstStyle/>
          <a:p>
            <a:pPr algn="ctr" indent="0" marL="0">
              <a:buNone/>
            </a:pPr>
            <a:r>
              <a:rPr lang="fr-FR" sz="1200" dirty="0">
                <a:solidFill>
                  <a:srgbClr val="54565A"/>
                </a:solidFill>
                <a:latin typeface="Arial" pitchFamily="34" charset="0"/>
              </a:rPr>
              <a:t xml:space="preserve">Préparé par : </a:t>
            </a:r>
            <a:r>
              <a:rPr lang="fr-FR" sz="1200" b="1" dirty="0">
                <a:solidFill>
                  <a:srgbClr val="000000"/>
                </a:solidFill>
                <a:latin typeface="Arial" pitchFamily="34" charset="0"/>
              </a:rPr>
              <a:t>CBS – Équipe Upgrade BOA</a:t>
            </a:r>
            <a:endParaRPr lang="fr-FR" dirty="0"/>
          </a:p>
          <a:p>
            <a:pPr algn="ctr" indent="0" marL="0">
              <a:buNone/>
            </a:pPr>
            <a:r>
              <a:rPr lang="fr-FR" sz="1200" dirty="0">
                <a:solidFill>
                  <a:srgbClr val="54565A"/>
                </a:solidFill>
                <a:latin typeface="Arial" pitchFamily="34" charset="0"/>
              </a:rPr>
              <a:t xml:space="preserve">Date : </a:t>
            </a:r>
            <a:r>
              <a:rPr lang="fr-FR" sz="1200" b="1" dirty="0">
                <a:solidFill>
                  <a:srgbClr val="000000"/>
                </a:solidFill>
                <a:latin typeface="Arial" pitchFamily="34" charset="0"/>
              </a:rPr>
              <a:t>23 mars 2026</a:t>
            </a:r>
            <a:endParaRPr lang="fr-FR" dirty="0"/>
          </a:p>
          <a:p>
            <a:pPr algn="ctr" indent="0" marL="0">
              <a:buNone/>
            </a:pPr>
            <a:r>
              <a:rPr lang="fr-FR" sz="1200" dirty="0">
                <a:solidFill>
                  <a:srgbClr val="54565A"/>
                </a:solidFill>
                <a:latin typeface="Arial" pitchFamily="34" charset="0"/>
              </a:rPr>
              <a:t xml:space="preserve">Participants : </a:t>
            </a:r>
            <a:r>
              <a:rPr lang="fr-FR" sz="1200" b="1" dirty="0">
                <a:solidFill>
                  <a:srgbClr val="000000"/>
                </a:solidFill>
                <a:latin typeface="Arial" pitchFamily="34" charset="0"/>
              </a:rPr>
              <a:t>Consultants CBS — Phase Paramétrage &amp; TU</a:t>
            </a:r>
            <a:endParaRPr lang="fr-FR" dirty="0"/>
          </a:p>
        </p:txBody>
      </p:sp>
      <p:sp>
        <p:nvSpPr>
          <p:cNvPr id="8" name="RedBarBot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9" name="FootTxt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00" dirty="0">
                <a:solidFill>
                  <a:srgbClr val="FFFFFF"/>
                </a:solidFill>
                <a:latin typeface="Arial" pitchFamily="34" charset="0"/>
              </a:rPr>
              <a:t>CAPITAL BANKING SOLUTIONS – TOUS DROITS RÉSERVÉS</a:t>
            </a:r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371600" cy="438912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1828800" y="109728"/>
            <a:ext cx="960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2200" b="1" dirty="0">
                <a:solidFill>
                  <a:srgbClr val="000000"/>
                </a:solidFill>
                <a:latin typeface="Arial" pitchFamily="34" charset="0"/>
              </a:rPr>
              <a:t>Executive Summary — Programme BOA Upgrade V4</a:t>
            </a:r>
            <a:endParaRPr lang="fr-FR" dirty="0"/>
          </a:p>
        </p:txBody>
      </p:sp>
      <p:sp>
        <p:nvSpPr>
          <p:cNvPr id="4" name="Line"/>
          <p:cNvSpPr/>
          <p:nvPr/>
        </p:nvSpPr>
        <p:spPr>
          <a:xfrm>
            <a:off x="274320" y="650000"/>
            <a:ext cx="11600000" cy="9144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10" name="Stat10"/>
          <p:cNvSpPr/>
          <p:nvPr/>
        </p:nvSpPr>
        <p:spPr>
          <a:xfrm>
            <a:off x="274320" y="720000"/>
            <a:ext cx="2700000" cy="900000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fr-FR" sz="5400" b="1" dirty="0">
                <a:solidFill>
                  <a:srgbClr val="E63329"/>
                </a:solidFill>
                <a:latin typeface="Arial" pitchFamily="34" charset="0"/>
              </a:rPr>
              <a:t>15+</a:t>
            </a:r>
            <a:endParaRPr lang="fr-FR" dirty="0"/>
          </a:p>
          <a:p>
            <a:pPr algn="ctr" indent="0" marL="0">
              <a:buNone/>
            </a:pPr>
            <a:r>
              <a:rPr lang="fr-FR" sz="1200" dirty="0">
                <a:solidFill>
                  <a:srgbClr val="54565A"/>
                </a:solidFill>
                <a:latin typeface="Arial" pitchFamily="34" charset="0"/>
              </a:rPr>
              <a:t>Filiales du
Groupe BOA</a:t>
            </a:r>
            <a:endParaRPr lang="fr-FR" dirty="0"/>
          </a:p>
        </p:txBody>
      </p:sp>
      <p:sp>
        <p:nvSpPr>
          <p:cNvPr id="11" name="Stat11"/>
          <p:cNvSpPr/>
          <p:nvPr/>
        </p:nvSpPr>
        <p:spPr>
          <a:xfrm>
            <a:off x="3200000" y="720000"/>
            <a:ext cx="2700000" cy="900000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fr-FR" sz="5400" b="1" dirty="0">
                <a:solidFill>
                  <a:srgbClr val="E63329"/>
                </a:solidFill>
                <a:latin typeface="Arial" pitchFamily="34" charset="0"/>
              </a:rPr>
              <a:t>72</a:t>
            </a:r>
            <a:endParaRPr lang="fr-FR" dirty="0"/>
          </a:p>
          <a:p>
            <a:pPr algn="ctr" indent="0" marL="0">
              <a:buNone/>
            </a:pPr>
            <a:r>
              <a:rPr lang="fr-FR" sz="1200" dirty="0">
                <a:solidFill>
                  <a:srgbClr val="54565A"/>
                </a:solidFill>
                <a:latin typeface="Arial" pitchFamily="34" charset="0"/>
              </a:rPr>
              <a:t>GAPs identifiés
phase cadrage</a:t>
            </a:r>
            <a:endParaRPr lang="fr-FR" dirty="0"/>
          </a:p>
        </p:txBody>
      </p:sp>
      <p:sp>
        <p:nvSpPr>
          <p:cNvPr id="12" name="Stat12"/>
          <p:cNvSpPr/>
          <p:nvPr/>
        </p:nvSpPr>
        <p:spPr>
          <a:xfrm>
            <a:off x="6126000" y="720000"/>
            <a:ext cx="2700000" cy="900000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fr-FR" sz="5400" b="1" dirty="0">
                <a:solidFill>
                  <a:srgbClr val="E63329"/>
                </a:solidFill>
                <a:latin typeface="Arial" pitchFamily="34" charset="0"/>
              </a:rPr>
              <a:t>5</a:t>
            </a:r>
            <a:endParaRPr lang="fr-FR" dirty="0"/>
          </a:p>
          <a:p>
            <a:pPr algn="ctr" indent="0" marL="0">
              <a:buNone/>
            </a:pPr>
            <a:r>
              <a:rPr lang="fr-FR" sz="1200" dirty="0">
                <a:solidFill>
                  <a:srgbClr val="54565A"/>
                </a:solidFill>
                <a:latin typeface="Arial" pitchFamily="34" charset="0"/>
              </a:rPr>
              <a:t>Consultants
Phase Build</a:t>
            </a:r>
            <a:endParaRPr lang="fr-FR" dirty="0"/>
          </a:p>
        </p:txBody>
      </p:sp>
      <p:sp>
        <p:nvSpPr>
          <p:cNvPr id="13" name="Stat13"/>
          <p:cNvSpPr/>
          <p:nvPr/>
        </p:nvSpPr>
        <p:spPr>
          <a:xfrm>
            <a:off x="9052000" y="720000"/>
            <a:ext cx="2700000" cy="900000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fr-FR" sz="5400" b="1" dirty="0">
                <a:solidFill>
                  <a:srgbClr val="E63329"/>
                </a:solidFill>
                <a:latin typeface="Arial" pitchFamily="34" charset="0"/>
              </a:rPr>
              <a:t>15/07</a:t>
            </a:r>
            <a:endParaRPr lang="fr-FR" dirty="0"/>
          </a:p>
          <a:p>
            <a:pPr algn="ctr" indent="0" marL="0">
              <a:buNone/>
            </a:pPr>
            <a:r>
              <a:rPr lang="fr-FR" sz="1200" dirty="0">
                <a:solidFill>
                  <a:srgbClr val="54565A"/>
                </a:solidFill>
                <a:latin typeface="Arial" pitchFamily="34" charset="0"/>
              </a:rPr>
              <a:t>Date Go Live
cible (2026)</a:t>
            </a:r>
            <a:endParaRPr lang="fr-FR" dirty="0"/>
          </a:p>
        </p:txBody>
      </p:sp>
      <p:sp>
        <p:nvSpPr>
          <p:cNvPr id="20" name="ColLeft"/>
          <p:cNvSpPr/>
          <p:nvPr/>
        </p:nvSpPr>
        <p:spPr>
          <a:xfrm>
            <a:off x="274320" y="1780000"/>
            <a:ext cx="5600000" cy="450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fr-FR" sz="1500" b="1" dirty="0">
                <a:solidFill>
                  <a:srgbClr val="1B3A6B"/>
                </a:solidFill>
                <a:latin typeface="Arial" pitchFamily="34" charset="0"/>
              </a:rPr>
              <a:t>Contexte du Programme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Le Groupe BOA opère sur IGOR V2 dans 15+ filiales africaines. La montée de version vers IGOR V4 est un projet stratégique groupe visant à moderniser l'infrastructure bancaire tout en garantissant une continuité opérationnelle totale.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l" indent="0" marL="0">
              <a:buNone/>
            </a:pPr>
            <a:r>
              <a:rPr lang="fr-FR" sz="1500" b="1" dirty="0">
                <a:solidFill>
                  <a:srgbClr val="1B3A6B"/>
                </a:solidFill>
                <a:latin typeface="Arial" pitchFamily="34" charset="0"/>
              </a:rPr>
              <a:t>BOA Côte d'Ivoire — Filiale Pilote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BOA CI est sélectionnée comme filiale pilote en raison de sa représentativité groupe (volume, diversité produits, maturité équipes). Son succès permettra de standardiser la méthodologie pour les 14 autres filiales.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l" indent="0" marL="0">
              <a:buNone/>
            </a:pPr>
            <a:r>
              <a:rPr lang="fr-FR" sz="1500" b="1" dirty="0">
                <a:solidFill>
                  <a:srgbClr val="1B3A6B"/>
                </a:solidFill>
                <a:latin typeface="Arial" pitchFamily="34" charset="0"/>
              </a:rPr>
              <a:t>Doctrine Banque Modèle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Iso-fonctionnel par défaut — zéro régression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Non-régression fonctionnelle, comptable et réglementaire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Adaptations maîtrisées uniquement</a:t>
            </a:r>
            <a:endParaRPr lang="fr-FR" dirty="0"/>
          </a:p>
        </p:txBody>
      </p:sp>
      <p:sp>
        <p:nvSpPr>
          <p:cNvPr id="21" name="ColRight"/>
          <p:cNvSpPr/>
          <p:nvPr/>
        </p:nvSpPr>
        <p:spPr>
          <a:xfrm>
            <a:off x="6200000" y="1780000"/>
            <a:ext cx="5700000" cy="450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fr-FR" sz="1500" b="1" dirty="0">
                <a:solidFill>
                  <a:srgbClr val="1B3A6B"/>
                </a:solidFill>
                <a:latin typeface="Arial" pitchFamily="34" charset="0"/>
              </a:rPr>
              <a:t>Objectifs du Kick-off d'aujourd'hui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①  Présenter le périmètre fonctionnel et la répartition des tâches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②  Expliquer la méthodologie de paramétrage et de tests (TU / TNR)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③  Présenter les livrables attendus et le processus de reporting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④  Partager le planning des travaux fonctionnels (23 mars — 15 mai)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⑤  Aligner l'équipe sur les attentes, les outils et les bonnes pratiques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l" indent="0" marL="0">
              <a:buNone/>
            </a:pPr>
            <a:r>
              <a:rPr lang="fr-FR" sz="1500" b="1" dirty="0">
                <a:solidFill>
                  <a:srgbClr val="1B3A6B"/>
                </a:solidFill>
                <a:latin typeface="Arial" pitchFamily="34" charset="0"/>
              </a:rPr>
              <a:t>Jalons clés Phase Build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►  Démarrage paramétrage : 23 mars 2026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►  Build Complete : 13 avril 2026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►  SIT / UAT : avril — juin 2026</a:t>
            </a:r>
            <a:endParaRPr lang="fr-FR" dirty="0"/>
          </a:p>
          <a:p>
            <a:pPr algn="l" indent="0" marL="0">
              <a:buNone/>
            </a:pPr>
            <a:r>
              <a:rPr lang="fr-FR" sz="1200" b="1" dirty="0">
                <a:solidFill>
                  <a:srgbClr val="E63329"/>
                </a:solidFill>
                <a:latin typeface="Arial" pitchFamily="34" charset="0"/>
              </a:rPr>
              <a:t>►  Go Live cible : 15 juillet 2026</a:t>
            </a:r>
            <a:endParaRPr lang="fr-FR" dirty="0"/>
          </a:p>
        </p:txBody>
      </p:sp>
      <p:sp>
        <p:nvSpPr>
          <p:cNvPr id="30" name="Footer"/>
          <p:cNvSpPr/>
          <p:nvPr/>
        </p:nvSpPr>
        <p:spPr>
          <a:xfrm>
            <a:off x="274320" y="6500000"/>
            <a:ext cx="11500000" cy="2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54565A"/>
                </a:solidFill>
                <a:latin typeface="Arial" pitchFamily="34" charset="0"/>
              </a:rPr>
              <a:t>All Rights Reserved © 2026  |  CAPITAL BANKING SOLUTIONS</a:t>
            </a:r>
            <a:endParaRPr lang="fr-FR" dirty="0"/>
          </a:p>
        </p:txBody>
      </p:sp>
      <p:sp>
        <p:nvSpPr>
          <p:cNvPr id="31" name="SlideNum"/>
          <p:cNvSpPr/>
          <p:nvPr/>
        </p:nvSpPr>
        <p:spPr>
          <a:xfrm>
            <a:off x="11200000" y="150000"/>
            <a:ext cx="700000" cy="3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1100" dirty="0">
                <a:solidFill>
                  <a:srgbClr val="54565A"/>
                </a:solidFill>
                <a:latin typeface="Arial" pitchFamily="34" charset="0"/>
              </a:rPr>
              <a:t>2</a:t>
            </a: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371600" cy="438912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1828800" y="109728"/>
            <a:ext cx="960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2200" b="1" dirty="0">
                <a:solidFill>
                  <a:srgbClr val="000000"/>
                </a:solidFill>
                <a:latin typeface="Arial" pitchFamily="34" charset="0"/>
              </a:rPr>
              <a:t>Sommaire</a:t>
            </a:r>
            <a:endParaRPr lang="fr-FR" dirty="0"/>
          </a:p>
        </p:txBody>
      </p:sp>
      <p:sp>
        <p:nvSpPr>
          <p:cNvPr id="4" name="Line"/>
          <p:cNvSpPr/>
          <p:nvPr/>
        </p:nvSpPr>
        <p:spPr>
          <a:xfrm>
            <a:off x="274320" y="650000"/>
            <a:ext cx="11600000" cy="9144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10" name="Num0"/>
          <p:cNvSpPr/>
          <p:nvPr/>
        </p:nvSpPr>
        <p:spPr>
          <a:xfrm>
            <a:off x="274320" y="740000"/>
            <a:ext cx="600000" cy="900000"/>
          </a:xfrm>
          <a:prstGeom prst="rect">
            <a:avLst/>
          </a:prstGeom>
          <a:solidFill>
            <a:srgbClr val="E63329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2800" b="1" dirty="0">
                <a:solidFill>
                  <a:srgbClr val="FFFFFF"/>
                </a:solidFill>
                <a:latin typeface="Arial" pitchFamily="34" charset="0"/>
              </a:rPr>
              <a:t>01</a:t>
            </a:r>
            <a:endParaRPr lang="fr-FR" dirty="0"/>
          </a:p>
        </p:txBody>
      </p:sp>
      <p:sp>
        <p:nvSpPr>
          <p:cNvPr id="11" name="TItem0"/>
          <p:cNvSpPr/>
          <p:nvPr/>
        </p:nvSpPr>
        <p:spPr>
          <a:xfrm>
            <a:off x="1000000" y="740000"/>
            <a:ext cx="10800000" cy="450000"/>
          </a:xfrm>
          <a:prstGeom prst="rect">
            <a:avLst/>
          </a:prstGeom>
          <a:noFill/>
        </p:spPr>
        <p:txBody>
          <a:bodyPr wrap="square" lIns="91440" tIns="0" rIns="91440" bIns="45720" rtlCol="0" anchor="b"/>
          <a:lstStyle/>
          <a:p>
            <a:pPr algn="l" indent="0" marL="0">
              <a:buNone/>
            </a:pPr>
            <a:r>
              <a:rPr lang="fr-FR" sz="1500" b="1" dirty="0">
                <a:solidFill>
                  <a:srgbClr val="1B3A6B"/>
                </a:solidFill>
                <a:latin typeface="Arial" pitchFamily="34" charset="0"/>
              </a:rPr>
              <a:t>Introduction</a:t>
            </a:r>
            <a:endParaRPr lang="fr-FR" dirty="0"/>
          </a:p>
        </p:txBody>
      </p:sp>
      <p:sp>
        <p:nvSpPr>
          <p:cNvPr id="12" name="SItem0"/>
          <p:cNvSpPr/>
          <p:nvPr/>
        </p:nvSpPr>
        <p:spPr>
          <a:xfrm>
            <a:off x="1000000" y="1190000"/>
            <a:ext cx="10800000" cy="400000"/>
          </a:xfrm>
          <a:prstGeom prst="rect">
            <a:avLst/>
          </a:prstGeom>
          <a:noFill/>
        </p:spPr>
        <p:txBody>
          <a:bodyPr wrap="square" lIns="91440" tIns="0" rIns="91440" bIns="0" rtlCol="0" anchor="t"/>
          <a:lstStyle/>
          <a:p>
            <a:pPr algn="l" indent="0" marL="0">
              <a:buNone/>
            </a:pPr>
            <a:r>
              <a:rPr lang="fr-FR" sz="1200" dirty="0">
                <a:solidFill>
                  <a:srgbClr val="54565A"/>
                </a:solidFill>
                <a:latin typeface="Arial" pitchFamily="34" charset="0"/>
              </a:rPr>
              <a:t>Contexte, hypothèses et objectifs de la phase</a:t>
            </a:r>
            <a:endParaRPr lang="fr-FR" dirty="0"/>
          </a:p>
        </p:txBody>
      </p:sp>
      <p:sp>
        <p:nvSpPr>
          <p:cNvPr id="13" name="Num1"/>
          <p:cNvSpPr/>
          <p:nvPr/>
        </p:nvSpPr>
        <p:spPr>
          <a:xfrm>
            <a:off x="274320" y="1790000"/>
            <a:ext cx="600000" cy="900000"/>
          </a:xfrm>
          <a:prstGeom prst="rect">
            <a:avLst/>
          </a:prstGeom>
          <a:solidFill>
            <a:srgbClr val="E63329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2800" b="1" dirty="0">
                <a:solidFill>
                  <a:srgbClr val="FFFFFF"/>
                </a:solidFill>
                <a:latin typeface="Arial" pitchFamily="34" charset="0"/>
              </a:rPr>
              <a:t>02</a:t>
            </a:r>
            <a:endParaRPr lang="fr-FR" dirty="0"/>
          </a:p>
        </p:txBody>
      </p:sp>
      <p:sp>
        <p:nvSpPr>
          <p:cNvPr id="14" name="TItem1"/>
          <p:cNvSpPr/>
          <p:nvPr/>
        </p:nvSpPr>
        <p:spPr>
          <a:xfrm>
            <a:off x="1000000" y="1790000"/>
            <a:ext cx="10800000" cy="450000"/>
          </a:xfrm>
          <a:prstGeom prst="rect">
            <a:avLst/>
          </a:prstGeom>
          <a:noFill/>
        </p:spPr>
        <p:txBody>
          <a:bodyPr wrap="square" lIns="91440" tIns="0" rIns="91440" bIns="45720" rtlCol="0" anchor="b"/>
          <a:lstStyle/>
          <a:p>
            <a:pPr algn="l" indent="0" marL="0">
              <a:buNone/>
            </a:pPr>
            <a:r>
              <a:rPr lang="fr-FR" sz="1500" b="1" dirty="0">
                <a:solidFill>
                  <a:srgbClr val="1B3A6B"/>
                </a:solidFill>
                <a:latin typeface="Arial" pitchFamily="34" charset="0"/>
              </a:rPr>
              <a:t>Périmètre Fonctionnel</a:t>
            </a:r>
            <a:endParaRPr lang="fr-FR" dirty="0"/>
          </a:p>
        </p:txBody>
      </p:sp>
      <p:sp>
        <p:nvSpPr>
          <p:cNvPr id="15" name="SItem1"/>
          <p:cNvSpPr/>
          <p:nvPr/>
        </p:nvSpPr>
        <p:spPr>
          <a:xfrm>
            <a:off x="1000000" y="2240000"/>
            <a:ext cx="10800000" cy="400000"/>
          </a:xfrm>
          <a:prstGeom prst="rect">
            <a:avLst/>
          </a:prstGeom>
          <a:noFill/>
        </p:spPr>
        <p:txBody>
          <a:bodyPr wrap="square" lIns="91440" tIns="0" rIns="91440" bIns="0" rtlCol="0" anchor="t"/>
          <a:lstStyle/>
          <a:p>
            <a:pPr algn="l" indent="0" marL="0">
              <a:buNone/>
            </a:pPr>
            <a:r>
              <a:rPr lang="fr-FR" sz="1200" dirty="0">
                <a:solidFill>
                  <a:srgbClr val="54565A"/>
                </a:solidFill>
                <a:latin typeface="Arial" pitchFamily="34" charset="0"/>
              </a:rPr>
              <a:t>Modules en scope V4 — Répartition par consultant</a:t>
            </a:r>
            <a:endParaRPr lang="fr-FR" dirty="0"/>
          </a:p>
        </p:txBody>
      </p:sp>
      <p:sp>
        <p:nvSpPr>
          <p:cNvPr id="16" name="Num2"/>
          <p:cNvSpPr/>
          <p:nvPr/>
        </p:nvSpPr>
        <p:spPr>
          <a:xfrm>
            <a:off x="274320" y="2840000"/>
            <a:ext cx="600000" cy="900000"/>
          </a:xfrm>
          <a:prstGeom prst="rect">
            <a:avLst/>
          </a:prstGeom>
          <a:solidFill>
            <a:srgbClr val="E63329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2800" b="1" dirty="0">
                <a:solidFill>
                  <a:srgbClr val="FFFFFF"/>
                </a:solidFill>
                <a:latin typeface="Arial" pitchFamily="34" charset="0"/>
              </a:rPr>
              <a:t>03</a:t>
            </a:r>
            <a:endParaRPr lang="fr-FR" dirty="0"/>
          </a:p>
        </p:txBody>
      </p:sp>
      <p:sp>
        <p:nvSpPr>
          <p:cNvPr id="17" name="TItem2"/>
          <p:cNvSpPr/>
          <p:nvPr/>
        </p:nvSpPr>
        <p:spPr>
          <a:xfrm>
            <a:off x="1000000" y="2840000"/>
            <a:ext cx="10800000" cy="450000"/>
          </a:xfrm>
          <a:prstGeom prst="rect">
            <a:avLst/>
          </a:prstGeom>
          <a:noFill/>
        </p:spPr>
        <p:txBody>
          <a:bodyPr wrap="square" lIns="91440" tIns="0" rIns="91440" bIns="45720" rtlCol="0" anchor="b"/>
          <a:lstStyle/>
          <a:p>
            <a:pPr algn="l" indent="0" marL="0">
              <a:buNone/>
            </a:pPr>
            <a:r>
              <a:rPr lang="fr-FR" sz="1500" b="1" dirty="0">
                <a:solidFill>
                  <a:srgbClr val="1B3A6B"/>
                </a:solidFill>
                <a:latin typeface="Arial" pitchFamily="34" charset="0"/>
              </a:rPr>
              <a:t>Méthodologie &amp; Livrables</a:t>
            </a:r>
            <a:endParaRPr lang="fr-FR" dirty="0"/>
          </a:p>
        </p:txBody>
      </p:sp>
      <p:sp>
        <p:nvSpPr>
          <p:cNvPr id="18" name="SItem2"/>
          <p:cNvSpPr/>
          <p:nvPr/>
        </p:nvSpPr>
        <p:spPr>
          <a:xfrm>
            <a:off x="1000000" y="3290000"/>
            <a:ext cx="10800000" cy="400000"/>
          </a:xfrm>
          <a:prstGeom prst="rect">
            <a:avLst/>
          </a:prstGeom>
          <a:noFill/>
        </p:spPr>
        <p:txBody>
          <a:bodyPr wrap="square" lIns="91440" tIns="0" rIns="91440" bIns="0" rtlCol="0" anchor="t"/>
          <a:lstStyle/>
          <a:p>
            <a:pPr algn="l" indent="0" marL="0">
              <a:buNone/>
            </a:pPr>
            <a:r>
              <a:rPr lang="fr-FR" sz="1200" dirty="0">
                <a:solidFill>
                  <a:srgbClr val="54565A"/>
                </a:solidFill>
                <a:latin typeface="Arial" pitchFamily="34" charset="0"/>
              </a:rPr>
              <a:t>Paramétrages, TU, TNR — Fiches et reporting</a:t>
            </a:r>
            <a:endParaRPr lang="fr-FR" dirty="0"/>
          </a:p>
        </p:txBody>
      </p:sp>
      <p:sp>
        <p:nvSpPr>
          <p:cNvPr id="19" name="Num3"/>
          <p:cNvSpPr/>
          <p:nvPr/>
        </p:nvSpPr>
        <p:spPr>
          <a:xfrm>
            <a:off x="274320" y="3890000"/>
            <a:ext cx="600000" cy="900000"/>
          </a:xfrm>
          <a:prstGeom prst="rect">
            <a:avLst/>
          </a:prstGeom>
          <a:solidFill>
            <a:srgbClr val="E63329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2800" b="1" dirty="0">
                <a:solidFill>
                  <a:srgbClr val="FFFFFF"/>
                </a:solidFill>
                <a:latin typeface="Arial" pitchFamily="34" charset="0"/>
              </a:rPr>
              <a:t>04</a:t>
            </a:r>
            <a:endParaRPr lang="fr-FR" dirty="0"/>
          </a:p>
        </p:txBody>
      </p:sp>
      <p:sp>
        <p:nvSpPr>
          <p:cNvPr id="20" name="TItem3"/>
          <p:cNvSpPr/>
          <p:nvPr/>
        </p:nvSpPr>
        <p:spPr>
          <a:xfrm>
            <a:off x="1000000" y="3890000"/>
            <a:ext cx="10800000" cy="450000"/>
          </a:xfrm>
          <a:prstGeom prst="rect">
            <a:avLst/>
          </a:prstGeom>
          <a:noFill/>
        </p:spPr>
        <p:txBody>
          <a:bodyPr wrap="square" lIns="91440" tIns="0" rIns="91440" bIns="45720" rtlCol="0" anchor="b"/>
          <a:lstStyle/>
          <a:p>
            <a:pPr algn="l" indent="0" marL="0">
              <a:buNone/>
            </a:pPr>
            <a:r>
              <a:rPr lang="fr-FR" sz="1500" b="1" dirty="0">
                <a:solidFill>
                  <a:srgbClr val="1B3A6B"/>
                </a:solidFill>
                <a:latin typeface="Arial" pitchFamily="34" charset="0"/>
              </a:rPr>
              <a:t>Méthodologie de report / Kit &amp; Environnements</a:t>
            </a:r>
            <a:endParaRPr lang="fr-FR" dirty="0"/>
          </a:p>
        </p:txBody>
      </p:sp>
      <p:sp>
        <p:nvSpPr>
          <p:cNvPr id="21" name="SItem3"/>
          <p:cNvSpPr/>
          <p:nvPr/>
        </p:nvSpPr>
        <p:spPr>
          <a:xfrm>
            <a:off x="1000000" y="4340000"/>
            <a:ext cx="10800000" cy="400000"/>
          </a:xfrm>
          <a:prstGeom prst="rect">
            <a:avLst/>
          </a:prstGeom>
          <a:noFill/>
        </p:spPr>
        <p:txBody>
          <a:bodyPr wrap="square" lIns="91440" tIns="0" rIns="91440" bIns="0" rtlCol="0" anchor="t"/>
          <a:lstStyle/>
          <a:p>
            <a:pPr algn="l" indent="0" marL="0">
              <a:buNone/>
            </a:pPr>
            <a:r>
              <a:rPr lang="fr-FR" sz="1200" dirty="0">
                <a:solidFill>
                  <a:srgbClr val="54565A"/>
                </a:solidFill>
                <a:latin typeface="Arial" pitchFamily="34" charset="0"/>
              </a:rPr>
              <a:t>Outils, environnements Claranet et client</a:t>
            </a:r>
            <a:endParaRPr lang="fr-FR" dirty="0"/>
          </a:p>
        </p:txBody>
      </p:sp>
      <p:sp>
        <p:nvSpPr>
          <p:cNvPr id="22" name="Num4"/>
          <p:cNvSpPr/>
          <p:nvPr/>
        </p:nvSpPr>
        <p:spPr>
          <a:xfrm>
            <a:off x="274320" y="4940000"/>
            <a:ext cx="600000" cy="900000"/>
          </a:xfrm>
          <a:prstGeom prst="rect">
            <a:avLst/>
          </a:prstGeom>
          <a:solidFill>
            <a:srgbClr val="E63329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2800" b="1" dirty="0">
                <a:solidFill>
                  <a:srgbClr val="FFFFFF"/>
                </a:solidFill>
                <a:latin typeface="Arial" pitchFamily="34" charset="0"/>
              </a:rPr>
              <a:t>05</a:t>
            </a:r>
            <a:endParaRPr lang="fr-FR" dirty="0"/>
          </a:p>
        </p:txBody>
      </p:sp>
      <p:sp>
        <p:nvSpPr>
          <p:cNvPr id="23" name="TItem4"/>
          <p:cNvSpPr/>
          <p:nvPr/>
        </p:nvSpPr>
        <p:spPr>
          <a:xfrm>
            <a:off x="1000000" y="4940000"/>
            <a:ext cx="10800000" cy="450000"/>
          </a:xfrm>
          <a:prstGeom prst="rect">
            <a:avLst/>
          </a:prstGeom>
          <a:noFill/>
        </p:spPr>
        <p:txBody>
          <a:bodyPr wrap="square" lIns="91440" tIns="0" rIns="91440" bIns="45720" rtlCol="0" anchor="b"/>
          <a:lstStyle/>
          <a:p>
            <a:pPr algn="l" indent="0" marL="0">
              <a:buNone/>
            </a:pPr>
            <a:r>
              <a:rPr lang="fr-FR" sz="1500" b="1" dirty="0">
                <a:solidFill>
                  <a:srgbClr val="1B3A6B"/>
                </a:solidFill>
                <a:latin typeface="Arial" pitchFamily="34" charset="0"/>
              </a:rPr>
              <a:t>Plan de travail</a:t>
            </a:r>
            <a:endParaRPr lang="fr-FR" dirty="0"/>
          </a:p>
        </p:txBody>
      </p:sp>
      <p:sp>
        <p:nvSpPr>
          <p:cNvPr id="24" name="SItem4"/>
          <p:cNvSpPr/>
          <p:nvPr/>
        </p:nvSpPr>
        <p:spPr>
          <a:xfrm>
            <a:off x="1000000" y="5390000"/>
            <a:ext cx="10800000" cy="400000"/>
          </a:xfrm>
          <a:prstGeom prst="rect">
            <a:avLst/>
          </a:prstGeom>
          <a:noFill/>
        </p:spPr>
        <p:txBody>
          <a:bodyPr wrap="square" lIns="91440" tIns="0" rIns="91440" bIns="0" rtlCol="0" anchor="t"/>
          <a:lstStyle/>
          <a:p>
            <a:pPr algn="l" indent="0" marL="0">
              <a:buNone/>
            </a:pPr>
            <a:r>
              <a:rPr lang="fr-FR" sz="1200" dirty="0">
                <a:solidFill>
                  <a:srgbClr val="54565A"/>
                </a:solidFill>
                <a:latin typeface="Arial" pitchFamily="34" charset="0"/>
              </a:rPr>
              <a:t>Planning global et détail fonctionnel 23 mars — 15 mai</a:t>
            </a:r>
            <a:endParaRPr lang="fr-FR" dirty="0"/>
          </a:p>
        </p:txBody>
      </p:sp>
      <p:sp>
        <p:nvSpPr>
          <p:cNvPr id="50" name="Footer"/>
          <p:cNvSpPr/>
          <p:nvPr/>
        </p:nvSpPr>
        <p:spPr>
          <a:xfrm>
            <a:off x="274320" y="6500000"/>
            <a:ext cx="11500000" cy="2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54565A"/>
                </a:solidFill>
                <a:latin typeface="Arial" pitchFamily="34" charset="0"/>
              </a:rPr>
              <a:t>All Rights Reserved © 2026  |  CAPITAL BANKING SOLUTIONS</a:t>
            </a:r>
            <a:endParaRPr lang="fr-FR" dirty="0"/>
          </a:p>
        </p:txBody>
      </p:sp>
      <p:sp>
        <p:nvSpPr>
          <p:cNvPr id="51" name="SlideNum"/>
          <p:cNvSpPr/>
          <p:nvPr/>
        </p:nvSpPr>
        <p:spPr>
          <a:xfrm>
            <a:off x="11200000" y="150000"/>
            <a:ext cx="700000" cy="3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1100" dirty="0">
                <a:solidFill>
                  <a:srgbClr val="54565A"/>
                </a:solidFill>
                <a:latin typeface="Arial" pitchFamily="34" charset="0"/>
              </a:rPr>
              <a:t>3</a:t>
            </a:r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RedAccent"/>
          <p:cNvSpPr/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4" name="RedAccentBot"/>
          <p:cNvSpPr/>
          <p:nvPr/>
        </p:nvSpPr>
        <p:spPr>
          <a:xfrm>
            <a:off x="0" y="6658000"/>
            <a:ext cx="12192000" cy="200000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371600" cy="438912"/>
          </a:xfrm>
          <a:prstGeom prst="rect">
            <a:avLst/>
          </a:prstGeom>
        </p:spPr>
      </p:pic>
      <p:sp>
        <p:nvSpPr>
          <p:cNvPr id="5" name="NumTxt"/>
          <p:cNvSpPr/>
          <p:nvPr/>
        </p:nvSpPr>
        <p:spPr>
          <a:xfrm>
            <a:off x="3000000" y="1800000"/>
            <a:ext cx="6200000" cy="14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600" b="1" dirty="0">
                <a:solidFill>
                  <a:srgbClr val="E63329"/>
                </a:solidFill>
                <a:latin typeface="Arial" pitchFamily="34" charset="0"/>
              </a:rPr>
              <a:t>01</a:t>
            </a:r>
            <a:endParaRPr lang="fr-FR" dirty="0"/>
          </a:p>
        </p:txBody>
      </p:sp>
      <p:sp>
        <p:nvSpPr>
          <p:cNvPr id="6" name="TitleTxt"/>
          <p:cNvSpPr/>
          <p:nvPr/>
        </p:nvSpPr>
        <p:spPr>
          <a:xfrm>
            <a:off x="1500000" y="3300000"/>
            <a:ext cx="9200000" cy="9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3200" b="1" dirty="0">
                <a:solidFill>
                  <a:srgbClr val="FFFFFF"/>
                </a:solidFill>
                <a:latin typeface="Arial" pitchFamily="34" charset="0"/>
              </a:rPr>
              <a:t>Introduction</a:t>
            </a:r>
            <a:endParaRPr lang="fr-FR" dirty="0"/>
          </a:p>
        </p:txBody>
      </p:sp>
      <p:sp>
        <p:nvSpPr>
          <p:cNvPr id="7" name="FootTxt"/>
          <p:cNvSpPr/>
          <p:nvPr/>
        </p:nvSpPr>
        <p:spPr>
          <a:xfrm>
            <a:off x="0" y="6658000"/>
            <a:ext cx="12192000" cy="2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00" dirty="0">
                <a:solidFill>
                  <a:srgbClr val="FFFFFF"/>
                </a:solidFill>
                <a:latin typeface="Arial" pitchFamily="34" charset="0"/>
              </a:rPr>
              <a:t>All Rights Reserved © 2026  |  CAPITAL BANKING SOLUTIONS</a:t>
            </a:r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371600" cy="438912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1828800" y="109728"/>
            <a:ext cx="960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2200" b="1" dirty="0">
                <a:solidFill>
                  <a:srgbClr val="000000"/>
                </a:solidFill>
                <a:latin typeface="Arial" pitchFamily="34" charset="0"/>
              </a:rPr>
              <a:t>Hypothèses du projet</a:t>
            </a:r>
            <a:endParaRPr lang="fr-FR" dirty="0"/>
          </a:p>
        </p:txBody>
      </p:sp>
      <p:sp>
        <p:nvSpPr>
          <p:cNvPr id="4" name="Line"/>
          <p:cNvSpPr/>
          <p:nvPr/>
        </p:nvSpPr>
        <p:spPr>
          <a:xfrm>
            <a:off x="274320" y="650000"/>
            <a:ext cx="11600000" cy="9144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5" name="Placeholder"/>
          <p:cNvSpPr/>
          <p:nvPr/>
        </p:nvSpPr>
        <p:spPr>
          <a:xfrm>
            <a:off x="500000" y="900000"/>
            <a:ext cx="11200000" cy="53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2000" b="1" dirty="0">
                <a:solidFill>
                  <a:srgbClr val="54565A"/>
                </a:solidFill>
                <a:latin typeface="Arial" pitchFamily="34" charset="0"/>
              </a:rPr>
              <a:t>⚠  Contenu à mettre à jour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ctr" indent="0" marL="0">
              <a:buNone/>
            </a:pPr>
            <a:r>
              <a:rPr lang="fr-FR" sz="1400" dirty="0">
                <a:solidFill>
                  <a:srgbClr val="54565A"/>
                </a:solidFill>
                <a:latin typeface="Arial" pitchFamily="34" charset="0"/>
              </a:rPr>
              <a:t>Cette slide sera complétée après les échanges avec Fadi</a:t>
            </a:r>
            <a:endParaRPr lang="fr-FR" dirty="0"/>
          </a:p>
          <a:p>
            <a:pPr algn="ctr" indent="0" marL="0">
              <a:buNone/>
            </a:pPr>
            <a:r>
              <a:rPr lang="fr-FR" sz="1400" dirty="0">
                <a:solidFill>
                  <a:srgbClr val="54565A"/>
                </a:solidFill>
                <a:latin typeface="Arial" pitchFamily="34" charset="0"/>
              </a:rPr>
              <a:t>et lorsqu'une première base migrée sera disponible.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ctr" indent="0" marL="0">
              <a:buNone/>
            </a:pPr>
            <a:r>
              <a:rPr lang="fr-FR" sz="1400" b="1" dirty="0">
                <a:solidFill>
                  <a:srgbClr val="1B3A6B"/>
                </a:solidFill>
                <a:latin typeface="Arial" pitchFamily="34" charset="0"/>
              </a:rPr>
              <a:t>Hypothèses préliminaires attendues :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ctr" indent="0" marL="0">
              <a:buNone/>
            </a:pPr>
            <a:r>
              <a:rPr lang="fr-FR" sz="1300" dirty="0">
                <a:solidFill>
                  <a:srgbClr val="444444"/>
                </a:solidFill>
                <a:latin typeface="Arial" pitchFamily="34" charset="0"/>
              </a:rPr>
              <a:t>•  État de la base de données migrée et données de test disponibles</a:t>
            </a:r>
            <a:endParaRPr lang="fr-FR" dirty="0"/>
          </a:p>
          <a:p>
            <a:pPr algn="ctr" indent="0" marL="0">
              <a:buNone/>
            </a:pPr>
            <a:r>
              <a:rPr lang="fr-FR" sz="1300" dirty="0">
                <a:solidFill>
                  <a:srgbClr val="444444"/>
                </a:solidFill>
                <a:latin typeface="Arial" pitchFamily="34" charset="0"/>
              </a:rPr>
              <a:t>•  Environnements Claranet et client accessibles</a:t>
            </a:r>
            <a:endParaRPr lang="fr-FR" dirty="0"/>
          </a:p>
          <a:p>
            <a:pPr algn="ctr" indent="0" marL="0">
              <a:buNone/>
            </a:pPr>
            <a:r>
              <a:rPr lang="fr-FR" sz="1300" dirty="0">
                <a:solidFill>
                  <a:srgbClr val="444444"/>
                </a:solidFill>
                <a:latin typeface="Arial" pitchFamily="34" charset="0"/>
              </a:rPr>
              <a:t>•  Paramètres et pré-requis confirmés avec l'équipe Produit CBS</a:t>
            </a:r>
            <a:endParaRPr lang="fr-FR" dirty="0"/>
          </a:p>
          <a:p>
            <a:pPr algn="ctr" indent="0" marL="0">
              <a:buNone/>
            </a:pPr>
            <a:r>
              <a:rPr lang="fr-FR" sz="1300" dirty="0">
                <a:solidFill>
                  <a:srgbClr val="444444"/>
                </a:solidFill>
                <a:latin typeface="Arial" pitchFamily="34" charset="0"/>
              </a:rPr>
              <a:t>•  Données de référence et matrices de tests disponibles</a:t>
            </a:r>
            <a:endParaRPr lang="fr-FR" dirty="0"/>
          </a:p>
        </p:txBody>
      </p:sp>
      <p:sp>
        <p:nvSpPr>
          <p:cNvPr id="10" name="Footer"/>
          <p:cNvSpPr/>
          <p:nvPr/>
        </p:nvSpPr>
        <p:spPr>
          <a:xfrm>
            <a:off x="274320" y="6500000"/>
            <a:ext cx="11500000" cy="2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54565A"/>
                </a:solidFill>
                <a:latin typeface="Arial" pitchFamily="34" charset="0"/>
              </a:rPr>
              <a:t>All Rights Reserved © 2026  |  CAPITAL BANKING SOLUTIONS</a:t>
            </a:r>
            <a:endParaRPr lang="fr-FR" dirty="0"/>
          </a:p>
        </p:txBody>
      </p:sp>
      <p:sp>
        <p:nvSpPr>
          <p:cNvPr id="11" name="SlideNum"/>
          <p:cNvSpPr/>
          <p:nvPr/>
        </p:nvSpPr>
        <p:spPr>
          <a:xfrm>
            <a:off x="11200000" y="150000"/>
            <a:ext cx="700000" cy="3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1100" dirty="0">
                <a:solidFill>
                  <a:srgbClr val="54565A"/>
                </a:solidFill>
                <a:latin typeface="Arial" pitchFamily="34" charset="0"/>
              </a:rPr>
              <a:t>5</a:t>
            </a:r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RedAccent"/>
          <p:cNvSpPr/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4" name="RedAccentBot"/>
          <p:cNvSpPr/>
          <p:nvPr/>
        </p:nvSpPr>
        <p:spPr>
          <a:xfrm>
            <a:off x="0" y="6658000"/>
            <a:ext cx="12192000" cy="200000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371600" cy="438912"/>
          </a:xfrm>
          <a:prstGeom prst="rect">
            <a:avLst/>
          </a:prstGeom>
        </p:spPr>
      </p:pic>
      <p:sp>
        <p:nvSpPr>
          <p:cNvPr id="5" name="NumTxt"/>
          <p:cNvSpPr/>
          <p:nvPr/>
        </p:nvSpPr>
        <p:spPr>
          <a:xfrm>
            <a:off x="3000000" y="1800000"/>
            <a:ext cx="6200000" cy="14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600" b="1" dirty="0">
                <a:solidFill>
                  <a:srgbClr val="E63329"/>
                </a:solidFill>
                <a:latin typeface="Arial" pitchFamily="34" charset="0"/>
              </a:rPr>
              <a:t>02</a:t>
            </a:r>
            <a:endParaRPr lang="fr-FR" dirty="0"/>
          </a:p>
        </p:txBody>
      </p:sp>
      <p:sp>
        <p:nvSpPr>
          <p:cNvPr id="6" name="TitleTxt"/>
          <p:cNvSpPr/>
          <p:nvPr/>
        </p:nvSpPr>
        <p:spPr>
          <a:xfrm>
            <a:off x="1500000" y="3300000"/>
            <a:ext cx="9200000" cy="9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3200" b="1" dirty="0">
                <a:solidFill>
                  <a:srgbClr val="FFFFFF"/>
                </a:solidFill>
                <a:latin typeface="Arial" pitchFamily="34" charset="0"/>
              </a:rPr>
              <a:t>Périmètre Fonctionnel</a:t>
            </a:r>
            <a:endParaRPr lang="fr-FR" dirty="0"/>
          </a:p>
        </p:txBody>
      </p:sp>
      <p:sp>
        <p:nvSpPr>
          <p:cNvPr id="7" name="FootTxt"/>
          <p:cNvSpPr/>
          <p:nvPr/>
        </p:nvSpPr>
        <p:spPr>
          <a:xfrm>
            <a:off x="0" y="6658000"/>
            <a:ext cx="12192000" cy="2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00" dirty="0">
                <a:solidFill>
                  <a:srgbClr val="FFFFFF"/>
                </a:solidFill>
                <a:latin typeface="Arial" pitchFamily="34" charset="0"/>
              </a:rPr>
              <a:t>All Rights Reserved © 2026  |  CAPITAL BANKING SOLUTIONS</a:t>
            </a:r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371600" cy="438912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1828800" y="109728"/>
            <a:ext cx="960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2200" b="1" dirty="0">
                <a:solidFill>
                  <a:srgbClr val="000000"/>
                </a:solidFill>
                <a:latin typeface="Arial" pitchFamily="34" charset="0"/>
              </a:rPr>
              <a:t>Périmètre Fonctionnel Cible</a:t>
            </a:r>
            <a:endParaRPr lang="fr-FR" dirty="0"/>
          </a:p>
        </p:txBody>
      </p:sp>
      <p:sp>
        <p:nvSpPr>
          <p:cNvPr id="4" name="Line"/>
          <p:cNvSpPr/>
          <p:nvPr/>
        </p:nvSpPr>
        <p:spPr>
          <a:xfrm>
            <a:off x="274320" y="650000"/>
            <a:ext cx="11600000" cy="9144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5" name="V4Hdr"/>
          <p:cNvSpPr/>
          <p:nvPr/>
        </p:nvSpPr>
        <p:spPr>
          <a:xfrm>
            <a:off x="274320" y="700000"/>
            <a:ext cx="5500000" cy="400000"/>
          </a:xfrm>
          <a:prstGeom prst="rect">
            <a:avLst/>
          </a:prstGeom>
          <a:solidFill>
            <a:srgbClr val="1B3A6B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1500" b="1" dirty="0">
                <a:solidFill>
                  <a:srgbClr val="FFFFFF"/>
                </a:solidFill>
                <a:latin typeface="Arial" pitchFamily="34" charset="0"/>
              </a:rPr>
              <a:t>Modules V4 — In Scope (CBS)</a:t>
            </a:r>
            <a:endParaRPr lang="fr-FR" dirty="0"/>
          </a:p>
        </p:txBody>
      </p:sp>
      <p:sp>
        <p:nvSpPr>
          <p:cNvPr id="6" name="V4Body"/>
          <p:cNvSpPr/>
          <p:nvPr/>
        </p:nvSpPr>
        <p:spPr>
          <a:xfrm>
            <a:off x="274320" y="1100000"/>
            <a:ext cx="5500000" cy="510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fr-FR" sz="1200" b="1" dirty="0">
                <a:solidFill>
                  <a:srgbClr val="1B3A6B"/>
                </a:solidFill>
                <a:latin typeface="Arial" pitchFamily="34" charset="0"/>
              </a:rPr>
              <a:t>Modules maintenus en V4 (traités par CBS) :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 xml:space="preserve">  Base Clientèle / Comptes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 xml:space="preserve">  Engagements &amp; Risques (Prêts, Garanties reçues)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 xml:space="preserve">  Comptabilité &amp; Finance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 xml:space="preserve">  Moyens de Paiement (Virements, Chèques, Prélèvements)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 xml:space="preserve">  Négoce International (SWIFT, RTGS, Garanties émises)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 xml:space="preserve">  Commission &amp; Frais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 xml:space="preserve">  Habilitations &amp; Sécurité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 xml:space="preserve">  Guichet (Mini-GED)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 xml:space="preserve">  AML / Conformité LAB/FT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 xml:space="preserve">  Réconciliation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 xml:space="preserve">  DAT / Agios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 xml:space="preserve">  Compensation &amp; RTGS</a:t>
            </a:r>
            <a:endParaRPr lang="fr-FR" dirty="0"/>
          </a:p>
        </p:txBody>
      </p:sp>
      <p:sp>
        <p:nvSpPr>
          <p:cNvPr id="7" name="V2Hdr"/>
          <p:cNvSpPr/>
          <p:nvPr/>
        </p:nvSpPr>
        <p:spPr>
          <a:xfrm>
            <a:off x="6200000" y="700000"/>
            <a:ext cx="5700000" cy="400000"/>
          </a:xfrm>
          <a:prstGeom prst="rect">
            <a:avLst/>
          </a:prstGeom>
          <a:solidFill>
            <a:srgbClr val="54565A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1500" b="1" dirty="0">
                <a:solidFill>
                  <a:srgbClr val="FFFFFF"/>
                </a:solidFill>
                <a:latin typeface="Arial" pitchFamily="34" charset="0"/>
              </a:rPr>
              <a:t>Modules V2 — Hors Scope CBS (testés par BOA)</a:t>
            </a:r>
            <a:endParaRPr lang="fr-FR" dirty="0"/>
          </a:p>
        </p:txBody>
      </p:sp>
      <p:sp>
        <p:nvSpPr>
          <p:cNvPr id="8" name="V2Body"/>
          <p:cNvSpPr/>
          <p:nvPr/>
        </p:nvSpPr>
        <p:spPr>
          <a:xfrm>
            <a:off x="6200000" y="1100000"/>
            <a:ext cx="5700000" cy="230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fr-FR" sz="1200" b="1" dirty="0">
                <a:solidFill>
                  <a:srgbClr val="54565A"/>
                </a:solidFill>
                <a:latin typeface="Arial" pitchFamily="34" charset="0"/>
              </a:rPr>
              <a:t>Modules testés directement par BOA CI :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666666"/>
                </a:solidFill>
                <a:latin typeface="Arial" pitchFamily="34" charset="0"/>
              </a:rPr>
              <a:t xml:space="preserve">  Autorisations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666666"/>
                </a:solidFill>
                <a:latin typeface="Arial" pitchFamily="34" charset="0"/>
              </a:rPr>
              <a:t xml:space="preserve">  Prêts (modules V2 non portés en V4)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666666"/>
                </a:solidFill>
                <a:latin typeface="Arial" pitchFamily="34" charset="0"/>
              </a:rPr>
              <a:t xml:space="preserve">  Autres modules spécifiques V2</a:t>
            </a:r>
            <a:endParaRPr lang="fr-FR" dirty="0"/>
          </a:p>
        </p:txBody>
      </p:sp>
      <p:sp>
        <p:nvSpPr>
          <p:cNvPr id="9" name="Note"/>
          <p:cNvSpPr/>
          <p:nvPr/>
        </p:nvSpPr>
        <p:spPr>
          <a:xfrm>
            <a:off x="6200000" y="3600000"/>
            <a:ext cx="5700000" cy="160000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D4E"/>
            </a:solidFill>
            <a:prstDash val="solid"/>
          </a:ln>
        </p:spPr>
        <p:txBody>
          <a:bodyPr wrap="square" lIns="182880" tIns="182880" rIns="182880" bIns="91440" rtlCol="0" anchor="t"/>
          <a:lstStyle/>
          <a:p>
            <a:pPr algn="l" indent="0" marL="0">
              <a:buNone/>
            </a:pPr>
            <a:r>
              <a:rPr lang="fr-FR" sz="1200" b="1" dirty="0">
                <a:solidFill>
                  <a:srgbClr val="856404"/>
                </a:solidFill>
                <a:latin typeface="Arial" pitchFamily="34" charset="0"/>
              </a:rPr>
              <a:t>Note importante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856404"/>
                </a:solidFill>
                <a:latin typeface="Arial" pitchFamily="34" charset="0"/>
              </a:rPr>
              <a:t>CBS intervient uniquement sur les modules maintenus en V4.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856404"/>
                </a:solidFill>
                <a:latin typeface="Arial" pitchFamily="34" charset="0"/>
              </a:rPr>
              <a:t>Pour tout fonctionnement attendu différent de celui du produit,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856404"/>
                </a:solidFill>
                <a:latin typeface="Arial" pitchFamily="34" charset="0"/>
              </a:rPr>
              <a:t>faire reproduire par BOA sur la V2 pour alignement.</a:t>
            </a:r>
            <a:endParaRPr lang="fr-FR" dirty="0"/>
          </a:p>
        </p:txBody>
      </p:sp>
      <p:sp>
        <p:nvSpPr>
          <p:cNvPr id="20" name="Footer"/>
          <p:cNvSpPr/>
          <p:nvPr/>
        </p:nvSpPr>
        <p:spPr>
          <a:xfrm>
            <a:off x="274320" y="6500000"/>
            <a:ext cx="11500000" cy="2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54565A"/>
                </a:solidFill>
                <a:latin typeface="Arial" pitchFamily="34" charset="0"/>
              </a:rPr>
              <a:t>All Rights Reserved © 2026  |  CAPITAL BANKING SOLUTIONS</a:t>
            </a:r>
            <a:endParaRPr lang="fr-FR" dirty="0"/>
          </a:p>
        </p:txBody>
      </p:sp>
      <p:sp>
        <p:nvSpPr>
          <p:cNvPr id="21" name="SlideNum"/>
          <p:cNvSpPr/>
          <p:nvPr/>
        </p:nvSpPr>
        <p:spPr>
          <a:xfrm>
            <a:off x="11200000" y="150000"/>
            <a:ext cx="700000" cy="3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1100" dirty="0">
                <a:solidFill>
                  <a:srgbClr val="54565A"/>
                </a:solidFill>
                <a:latin typeface="Arial" pitchFamily="34" charset="0"/>
              </a:rPr>
              <a:t>7</a:t>
            </a:r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371600" cy="438912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1828800" y="109728"/>
            <a:ext cx="960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2200" b="1" dirty="0">
                <a:solidFill>
                  <a:srgbClr val="000000"/>
                </a:solidFill>
                <a:latin typeface="Arial" pitchFamily="34" charset="0"/>
              </a:rPr>
              <a:t>Organisation — Répartition des consultants</a:t>
            </a:r>
            <a:endParaRPr lang="fr-FR" dirty="0"/>
          </a:p>
        </p:txBody>
      </p:sp>
      <p:sp>
        <p:nvSpPr>
          <p:cNvPr id="4" name="Line"/>
          <p:cNvSpPr/>
          <p:nvPr/>
        </p:nvSpPr>
        <p:spPr>
          <a:xfrm>
            <a:off x="274320" y="650000"/>
            <a:ext cx="11600000" cy="9144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10" name="Card0"/>
          <p:cNvSpPr/>
          <p:nvPr/>
        </p:nvSpPr>
        <p:spPr>
          <a:xfrm>
            <a:off x="274320" y="750000"/>
            <a:ext cx="3800000" cy="2400000"/>
          </a:xfrm>
          <a:prstGeom prst="rect">
            <a:avLst/>
          </a:prstGeom>
          <a:solidFill>
            <a:srgbClr val="1B3A6B"/>
          </a:solidFill>
        </p:spPr>
        <p:txBody>
          <a:bodyPr wrap="square" lIns="182880" tIns="182880" rIns="182880" bIns="91440" rtlCol="0" anchor="t"/>
          <a:lstStyle/>
          <a:p>
            <a:pPr algn="l" indent="0" marL="0">
              <a:buNone/>
            </a:pPr>
            <a:r>
              <a:rPr lang="fr-FR" sz="1400" b="1" dirty="0">
                <a:solidFill>
                  <a:srgbClr val="FFFFFF"/>
                </a:solidFill>
                <a:latin typeface="Arial" pitchFamily="34" charset="0"/>
              </a:rPr>
              <a:t>Assitan Dravé</a:t>
            </a:r>
            <a:endParaRPr lang="fr-FR" dirty="0"/>
          </a:p>
          <a:p>
            <a:pPr algn="l" indent="0" marL="0">
              <a:buNone/>
            </a:pPr>
            <a:r>
              <a:rPr lang="fr-FR" sz="900" dirty="0">
                <a:solidFill>
                  <a:srgbClr val="E63329"/>
                </a:solidFill>
                <a:latin typeface="Arial" pitchFamily="34" charset="0"/>
              </a:rPr>
              <a:t>———————————————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Comptabilité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Agios / DAT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AML / LAB-FT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Réconciliation</a:t>
            </a:r>
            <a:endParaRPr lang="fr-FR" dirty="0"/>
          </a:p>
        </p:txBody>
      </p:sp>
      <p:sp>
        <p:nvSpPr>
          <p:cNvPr id="12" name="Card1"/>
          <p:cNvSpPr/>
          <p:nvPr/>
        </p:nvSpPr>
        <p:spPr>
          <a:xfrm>
            <a:off x="4224320" y="750000"/>
            <a:ext cx="3800000" cy="2400000"/>
          </a:xfrm>
          <a:prstGeom prst="rect">
            <a:avLst/>
          </a:prstGeom>
          <a:solidFill>
            <a:srgbClr val="1A5276"/>
          </a:solidFill>
        </p:spPr>
        <p:txBody>
          <a:bodyPr wrap="square" lIns="182880" tIns="182880" rIns="182880" bIns="91440" rtlCol="0" anchor="t"/>
          <a:lstStyle/>
          <a:p>
            <a:pPr algn="l" indent="0" marL="0">
              <a:buNone/>
            </a:pPr>
            <a:r>
              <a:rPr lang="fr-FR" sz="1400" b="1" dirty="0">
                <a:solidFill>
                  <a:srgbClr val="FFFFFF"/>
                </a:solidFill>
                <a:latin typeface="Arial" pitchFamily="34" charset="0"/>
              </a:rPr>
              <a:t>Camille Fobasso</a:t>
            </a:r>
            <a:endParaRPr lang="fr-FR" dirty="0"/>
          </a:p>
          <a:p>
            <a:pPr algn="l" indent="0" marL="0">
              <a:buNone/>
            </a:pPr>
            <a:r>
              <a:rPr lang="fr-FR" sz="900" dirty="0">
                <a:solidFill>
                  <a:srgbClr val="E63329"/>
                </a:solidFill>
                <a:latin typeface="Arial" pitchFamily="34" charset="0"/>
              </a:rPr>
              <a:t>———————————————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Virements SWIFT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RTGS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Garanties émises</a:t>
            </a:r>
            <a:endParaRPr lang="fr-FR" dirty="0"/>
          </a:p>
        </p:txBody>
      </p:sp>
      <p:sp>
        <p:nvSpPr>
          <p:cNvPr id="14" name="Card2"/>
          <p:cNvSpPr/>
          <p:nvPr/>
        </p:nvSpPr>
        <p:spPr>
          <a:xfrm>
            <a:off x="8174320" y="750000"/>
            <a:ext cx="3800000" cy="2400000"/>
          </a:xfrm>
          <a:prstGeom prst="rect">
            <a:avLst/>
          </a:prstGeom>
          <a:solidFill>
            <a:srgbClr val="0E6655"/>
          </a:solidFill>
        </p:spPr>
        <p:txBody>
          <a:bodyPr wrap="square" lIns="182880" tIns="182880" rIns="182880" bIns="91440" rtlCol="0" anchor="t"/>
          <a:lstStyle/>
          <a:p>
            <a:pPr algn="l" indent="0" marL="0">
              <a:buNone/>
            </a:pPr>
            <a:r>
              <a:rPr lang="fr-FR" sz="1400" b="1" dirty="0">
                <a:solidFill>
                  <a:srgbClr val="FFFFFF"/>
                </a:solidFill>
                <a:latin typeface="Arial" pitchFamily="34" charset="0"/>
              </a:rPr>
              <a:t>Laryce Djieufack</a:t>
            </a:r>
            <a:endParaRPr lang="fr-FR" dirty="0"/>
          </a:p>
          <a:p>
            <a:pPr algn="l" indent="0" marL="0">
              <a:buNone/>
            </a:pPr>
            <a:r>
              <a:rPr lang="fr-FR" sz="900" dirty="0">
                <a:solidFill>
                  <a:srgbClr val="E63329"/>
                </a:solidFill>
                <a:latin typeface="Arial" pitchFamily="34" charset="0"/>
              </a:rPr>
              <a:t>———————————————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Base Clientèle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Commissions &amp; Frais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Habilitations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Guichet / Mini-GED</a:t>
            </a:r>
            <a:endParaRPr lang="fr-FR" dirty="0"/>
          </a:p>
        </p:txBody>
      </p:sp>
      <p:sp>
        <p:nvSpPr>
          <p:cNvPr id="16" name="Card3"/>
          <p:cNvSpPr/>
          <p:nvPr/>
        </p:nvSpPr>
        <p:spPr>
          <a:xfrm>
            <a:off x="274320" y="3300000"/>
            <a:ext cx="3800000" cy="2400000"/>
          </a:xfrm>
          <a:prstGeom prst="rect">
            <a:avLst/>
          </a:prstGeom>
          <a:solidFill>
            <a:srgbClr val="6E2F1A"/>
          </a:solidFill>
        </p:spPr>
        <p:txBody>
          <a:bodyPr wrap="square" lIns="182880" tIns="182880" rIns="182880" bIns="91440" rtlCol="0" anchor="t"/>
          <a:lstStyle/>
          <a:p>
            <a:pPr algn="l" indent="0" marL="0">
              <a:buNone/>
            </a:pPr>
            <a:r>
              <a:rPr lang="fr-FR" sz="1400" b="1" dirty="0">
                <a:solidFill>
                  <a:srgbClr val="FFFFFF"/>
                </a:solidFill>
                <a:latin typeface="Arial" pitchFamily="34" charset="0"/>
              </a:rPr>
              <a:t>Bertrand Essoua</a:t>
            </a:r>
            <a:endParaRPr lang="fr-FR" dirty="0"/>
          </a:p>
          <a:p>
            <a:pPr algn="l" indent="0" marL="0">
              <a:buNone/>
            </a:pPr>
            <a:r>
              <a:rPr lang="fr-FR" sz="900" dirty="0">
                <a:solidFill>
                  <a:srgbClr val="E63329"/>
                </a:solidFill>
                <a:latin typeface="Arial" pitchFamily="34" charset="0"/>
              </a:rPr>
              <a:t>———————————————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Autorisations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Prêts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Garanties reçues</a:t>
            </a:r>
            <a:endParaRPr lang="fr-FR" dirty="0"/>
          </a:p>
        </p:txBody>
      </p:sp>
      <p:sp>
        <p:nvSpPr>
          <p:cNvPr id="18" name="Card4"/>
          <p:cNvSpPr/>
          <p:nvPr/>
        </p:nvSpPr>
        <p:spPr>
          <a:xfrm>
            <a:off x="4224320" y="3300000"/>
            <a:ext cx="3800000" cy="2400000"/>
          </a:xfrm>
          <a:prstGeom prst="rect">
            <a:avLst/>
          </a:prstGeom>
          <a:solidFill>
            <a:srgbClr val="4A235A"/>
          </a:solidFill>
        </p:spPr>
        <p:txBody>
          <a:bodyPr wrap="square" lIns="182880" tIns="182880" rIns="182880" bIns="91440" rtlCol="0" anchor="t"/>
          <a:lstStyle/>
          <a:p>
            <a:pPr algn="l" indent="0" marL="0">
              <a:buNone/>
            </a:pPr>
            <a:r>
              <a:rPr lang="fr-FR" sz="1400" b="1" dirty="0">
                <a:solidFill>
                  <a:srgbClr val="FFFFFF"/>
                </a:solidFill>
                <a:latin typeface="Arial" pitchFamily="34" charset="0"/>
              </a:rPr>
              <a:t>Claver Komoin</a:t>
            </a:r>
            <a:endParaRPr lang="fr-FR" dirty="0"/>
          </a:p>
          <a:p>
            <a:pPr algn="l" indent="0" marL="0">
              <a:buNone/>
            </a:pPr>
            <a:r>
              <a:rPr lang="fr-FR" sz="900" dirty="0">
                <a:solidFill>
                  <a:srgbClr val="E63329"/>
                </a:solidFill>
                <a:latin typeface="Arial" pitchFamily="34" charset="0"/>
              </a:rPr>
              <a:t>———————————————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Virements (Int., Ext., Perm., Mult.)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Chèques &amp; Effets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Prélèvements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Compensation</a:t>
            </a:r>
            <a:endParaRPr lang="fr-FR" dirty="0"/>
          </a:p>
        </p:txBody>
      </p:sp>
      <p:sp>
        <p:nvSpPr>
          <p:cNvPr id="20" name="Card5"/>
          <p:cNvSpPr/>
          <p:nvPr/>
        </p:nvSpPr>
        <p:spPr>
          <a:xfrm>
            <a:off x="8174320" y="3300000"/>
            <a:ext cx="3800000" cy="2400000"/>
          </a:xfrm>
          <a:prstGeom prst="rect">
            <a:avLst/>
          </a:prstGeom>
          <a:solidFill>
            <a:srgbClr val="1B4F72"/>
          </a:solidFill>
        </p:spPr>
        <p:txBody>
          <a:bodyPr wrap="square" lIns="182880" tIns="182880" rIns="182880" bIns="91440" rtlCol="0" anchor="t"/>
          <a:lstStyle/>
          <a:p>
            <a:pPr algn="l" indent="0" marL="0">
              <a:buNone/>
            </a:pPr>
            <a:r>
              <a:rPr lang="fr-FR" sz="1400" b="1" dirty="0">
                <a:solidFill>
                  <a:srgbClr val="FFFFFF"/>
                </a:solidFill>
                <a:latin typeface="Arial" pitchFamily="34" charset="0"/>
              </a:rPr>
              <a:t>Trésor Jabong</a:t>
            </a:r>
            <a:endParaRPr lang="fr-FR" dirty="0"/>
          </a:p>
          <a:p>
            <a:pPr algn="l" indent="0" marL="0">
              <a:buNone/>
            </a:pPr>
            <a:r>
              <a:rPr lang="fr-FR" sz="900" dirty="0">
                <a:solidFill>
                  <a:srgbClr val="E63329"/>
                </a:solidFill>
                <a:latin typeface="Arial" pitchFamily="34" charset="0"/>
              </a:rPr>
              <a:t>———————————————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E8E8E8"/>
                </a:solidFill>
                <a:latin typeface="Arial" pitchFamily="34" charset="0"/>
              </a:rPr>
              <a:t>Module(s) à définir</a:t>
            </a:r>
            <a:endParaRPr lang="fr-FR" dirty="0"/>
          </a:p>
        </p:txBody>
      </p:sp>
      <p:sp>
        <p:nvSpPr>
          <p:cNvPr id="30" name="NoteBar"/>
          <p:cNvSpPr/>
          <p:nvPr/>
        </p:nvSpPr>
        <p:spPr>
          <a:xfrm>
            <a:off x="274320" y="5200000"/>
            <a:ext cx="11600000" cy="500000"/>
          </a:xfrm>
          <a:prstGeom prst="rect">
            <a:avLst/>
          </a:prstGeom>
          <a:solidFill>
            <a:srgbClr val="F5F5F5"/>
          </a:solidFill>
        </p:spPr>
        <p:txBody>
          <a:bodyPr wrap="square" lIns="182880" tIns="91440" rIns="182880" bIns="91440" rtlCol="0" anchor="ctr"/>
          <a:lstStyle/>
          <a:p>
            <a:pPr algn="l" indent="0" marL="0">
              <a:buNone/>
            </a:pPr>
            <a:r>
              <a:rPr lang="fr-FR" sz="1200" dirty="0">
                <a:solidFill>
                  <a:srgbClr val="54565A"/>
                </a:solidFill>
                <a:latin typeface="Arial" pitchFamily="34" charset="0"/>
              </a:rPr>
              <a:t>⚠  CBS intervient uniquement sur les modules maintenus en V4. Les modules V2 sont testés par BOA CI.</a:t>
            </a:r>
            <a:endParaRPr lang="fr-FR" dirty="0"/>
          </a:p>
        </p:txBody>
      </p:sp>
      <p:sp>
        <p:nvSpPr>
          <p:cNvPr id="40" name="Footer"/>
          <p:cNvSpPr/>
          <p:nvPr/>
        </p:nvSpPr>
        <p:spPr>
          <a:xfrm>
            <a:off x="274320" y="6500000"/>
            <a:ext cx="11500000" cy="2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54565A"/>
                </a:solidFill>
                <a:latin typeface="Arial" pitchFamily="34" charset="0"/>
              </a:rPr>
              <a:t>All Rights Reserved © 2026  |  CAPITAL BANKING SOLUTIONS</a:t>
            </a:r>
            <a:endParaRPr lang="fr-FR" dirty="0"/>
          </a:p>
        </p:txBody>
      </p:sp>
      <p:sp>
        <p:nvSpPr>
          <p:cNvPr id="41" name="SlideNum"/>
          <p:cNvSpPr/>
          <p:nvPr/>
        </p:nvSpPr>
        <p:spPr>
          <a:xfrm>
            <a:off x="11200000" y="150000"/>
            <a:ext cx="700000" cy="3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1100" dirty="0">
                <a:solidFill>
                  <a:srgbClr val="54565A"/>
                </a:solidFill>
                <a:latin typeface="Arial" pitchFamily="34" charset="0"/>
              </a:rPr>
              <a:t>8</a:t>
            </a:r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RedAccent"/>
          <p:cNvSpPr/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4" name="RedAccentBot"/>
          <p:cNvSpPr/>
          <p:nvPr/>
        </p:nvSpPr>
        <p:spPr>
          <a:xfrm>
            <a:off x="0" y="6658000"/>
            <a:ext cx="12192000" cy="200000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371600" cy="438912"/>
          </a:xfrm>
          <a:prstGeom prst="rect">
            <a:avLst/>
          </a:prstGeom>
        </p:spPr>
      </p:pic>
      <p:sp>
        <p:nvSpPr>
          <p:cNvPr id="5" name="NumTxt"/>
          <p:cNvSpPr/>
          <p:nvPr/>
        </p:nvSpPr>
        <p:spPr>
          <a:xfrm>
            <a:off x="3000000" y="1800000"/>
            <a:ext cx="6200000" cy="14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600" b="1" dirty="0">
                <a:solidFill>
                  <a:srgbClr val="E63329"/>
                </a:solidFill>
                <a:latin typeface="Arial" pitchFamily="34" charset="0"/>
              </a:rPr>
              <a:t>03</a:t>
            </a:r>
            <a:endParaRPr lang="fr-FR" dirty="0"/>
          </a:p>
        </p:txBody>
      </p:sp>
      <p:sp>
        <p:nvSpPr>
          <p:cNvPr id="6" name="TitleTxt"/>
          <p:cNvSpPr/>
          <p:nvPr/>
        </p:nvSpPr>
        <p:spPr>
          <a:xfrm>
            <a:off x="1500000" y="3300000"/>
            <a:ext cx="9200000" cy="9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3200" b="1" dirty="0">
                <a:solidFill>
                  <a:srgbClr val="FFFFFF"/>
                </a:solidFill>
                <a:latin typeface="Arial" pitchFamily="34" charset="0"/>
              </a:rPr>
              <a:t>Méthodologie &amp; Livrables</a:t>
            </a:r>
            <a:endParaRPr lang="fr-FR" dirty="0"/>
          </a:p>
        </p:txBody>
      </p:sp>
      <p:sp>
        <p:nvSpPr>
          <p:cNvPr id="7" name="FootTxt"/>
          <p:cNvSpPr/>
          <p:nvPr/>
        </p:nvSpPr>
        <p:spPr>
          <a:xfrm>
            <a:off x="0" y="6658000"/>
            <a:ext cx="12192000" cy="2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00" dirty="0">
                <a:solidFill>
                  <a:srgbClr val="FFFFFF"/>
                </a:solidFill>
                <a:latin typeface="Arial" pitchFamily="34" charset="0"/>
              </a:rPr>
              <a:t>All Rights Reserved © 2026  |  CAPITAL BANKING SOLUTIONS</a:t>
            </a:r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371600" cy="438912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1828800" y="109728"/>
            <a:ext cx="960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2200" b="1" dirty="0">
                <a:solidFill>
                  <a:srgbClr val="000000"/>
                </a:solidFill>
                <a:latin typeface="Arial" pitchFamily="34" charset="0"/>
              </a:rPr>
              <a:t>Travaux à réaliser — Vue d'ensemble</a:t>
            </a:r>
            <a:endParaRPr lang="fr-FR" dirty="0"/>
          </a:p>
        </p:txBody>
      </p:sp>
      <p:sp>
        <p:nvSpPr>
          <p:cNvPr id="4" name="Line"/>
          <p:cNvSpPr/>
          <p:nvPr/>
        </p:nvSpPr>
        <p:spPr>
          <a:xfrm>
            <a:off x="274320" y="650000"/>
            <a:ext cx="11600000" cy="9144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10" name="CHdr0"/>
          <p:cNvSpPr/>
          <p:nvPr/>
        </p:nvSpPr>
        <p:spPr>
          <a:xfrm>
            <a:off x="274320" y="750000"/>
            <a:ext cx="3750000" cy="800000"/>
          </a:xfrm>
          <a:prstGeom prst="rect">
            <a:avLst/>
          </a:prstGeom>
          <a:solidFill>
            <a:srgbClr val="E63329"/>
          </a:solidFill>
        </p:spPr>
        <p:txBody>
          <a:bodyPr wrap="square" lIns="182880" tIns="91440" rIns="182880" bIns="91440" rtlCol="0" anchor="ctr"/>
          <a:lstStyle/>
          <a:p>
            <a:pPr algn="ctr" indent="0" marL="0">
              <a:buNone/>
            </a:pPr>
            <a:r>
              <a:rPr lang="fr-FR" sz="1600" b="1" dirty="0">
                <a:solidFill>
                  <a:srgbClr val="FFFFFF"/>
                </a:solidFill>
                <a:latin typeface="Arial" pitchFamily="34" charset="0"/>
              </a:rPr>
              <a:t>PARAMÉTRAGES</a:t>
            </a:r>
            <a:endParaRPr lang="fr-FR" dirty="0"/>
          </a:p>
          <a:p>
            <a:pPr algn="ctr" indent="0" marL="0">
              <a:buNone/>
            </a:pPr>
            <a:r>
              <a:rPr lang="fr-FR" sz="1000" dirty="0">
                <a:solidFill>
                  <a:srgbClr val="E8E8E8"/>
                </a:solidFill>
                <a:latin typeface="Arial" pitchFamily="34" charset="0"/>
              </a:rPr>
              <a:t>Activation des fonctionnalités V4</a:t>
            </a:r>
            <a:endParaRPr lang="fr-FR" dirty="0"/>
          </a:p>
        </p:txBody>
      </p:sp>
      <p:sp>
        <p:nvSpPr>
          <p:cNvPr id="11" name="CBody0"/>
          <p:cNvSpPr/>
          <p:nvPr/>
        </p:nvSpPr>
        <p:spPr>
          <a:xfrm>
            <a:off x="274320" y="1600000"/>
            <a:ext cx="3750000" cy="4200000"/>
          </a:xfrm>
          <a:prstGeom prst="rect">
            <a:avLst/>
          </a:prstGeom>
          <a:solidFill>
            <a:srgbClr val="F5F5F5"/>
          </a:solidFill>
        </p:spPr>
        <p:txBody>
          <a:bodyPr wrap="square" lIns="182880" tIns="182880" rIns="182880" bIns="91440" rtlCol="0" anchor="t"/>
          <a:lstStyle/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Activation des fonctionnalités V4 nécessitant du paramétrage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Liste des évolutions à mettre à disposition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Évolution du standard V4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Évolutions reportées entre V2 et V4 (GAPs cadrage)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Évolutions réglementaires de la zone UEMOA</a:t>
            </a:r>
            <a:endParaRPr lang="fr-FR" dirty="0"/>
          </a:p>
        </p:txBody>
      </p:sp>
      <p:sp>
        <p:nvSpPr>
          <p:cNvPr id="13" name="CHdr1"/>
          <p:cNvSpPr/>
          <p:nvPr/>
        </p:nvSpPr>
        <p:spPr>
          <a:xfrm>
            <a:off x="4124320" y="750000"/>
            <a:ext cx="3750000" cy="800000"/>
          </a:xfrm>
          <a:prstGeom prst="rect">
            <a:avLst/>
          </a:prstGeom>
          <a:solidFill>
            <a:srgbClr val="1B3A6B"/>
          </a:solidFill>
        </p:spPr>
        <p:txBody>
          <a:bodyPr wrap="square" lIns="182880" tIns="91440" rIns="182880" bIns="91440" rtlCol="0" anchor="ctr"/>
          <a:lstStyle/>
          <a:p>
            <a:pPr algn="ctr" indent="0" marL="0">
              <a:buNone/>
            </a:pPr>
            <a:r>
              <a:rPr lang="fr-FR" sz="1600" b="1" dirty="0">
                <a:solidFill>
                  <a:srgbClr val="FFFFFF"/>
                </a:solidFill>
                <a:latin typeface="Arial" pitchFamily="34" charset="0"/>
              </a:rPr>
              <a:t>TESTS UNITAIRES</a:t>
            </a:r>
            <a:endParaRPr lang="fr-FR" dirty="0"/>
          </a:p>
          <a:p>
            <a:pPr algn="ctr" indent="0" marL="0">
              <a:buNone/>
            </a:pPr>
            <a:r>
              <a:rPr lang="fr-FR" sz="1000" dirty="0">
                <a:solidFill>
                  <a:srgbClr val="E8E8E8"/>
                </a:solidFill>
                <a:latin typeface="Arial" pitchFamily="34" charset="0"/>
              </a:rPr>
              <a:t>Tests fonctionnalités V4 activées</a:t>
            </a:r>
            <a:endParaRPr lang="fr-FR" dirty="0"/>
          </a:p>
        </p:txBody>
      </p:sp>
      <p:sp>
        <p:nvSpPr>
          <p:cNvPr id="14" name="CBody1"/>
          <p:cNvSpPr/>
          <p:nvPr/>
        </p:nvSpPr>
        <p:spPr>
          <a:xfrm>
            <a:off x="4124320" y="1600000"/>
            <a:ext cx="3750000" cy="4200000"/>
          </a:xfrm>
          <a:prstGeom prst="rect">
            <a:avLst/>
          </a:prstGeom>
          <a:solidFill>
            <a:srgbClr val="F5F5F5"/>
          </a:solidFill>
        </p:spPr>
        <p:txBody>
          <a:bodyPr wrap="square" lIns="182880" tIns="182880" rIns="182880" bIns="91440" rtlCol="0" anchor="t"/>
          <a:lstStyle/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Tests unitaires des fonctionnalités activées par paramétrage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Vérification / Validation de toutes les fonctionnalités du module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Vérification des évolutions activées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Validation du bon fonctionnement des écrans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Validation des éditions générées si concernées</a:t>
            </a:r>
            <a:endParaRPr lang="fr-FR" dirty="0"/>
          </a:p>
        </p:txBody>
      </p:sp>
      <p:sp>
        <p:nvSpPr>
          <p:cNvPr id="16" name="CHdr2"/>
          <p:cNvSpPr/>
          <p:nvPr/>
        </p:nvSpPr>
        <p:spPr>
          <a:xfrm>
            <a:off x="7974320" y="750000"/>
            <a:ext cx="3750000" cy="800000"/>
          </a:xfrm>
          <a:prstGeom prst="rect">
            <a:avLst/>
          </a:prstGeom>
          <a:solidFill>
            <a:srgbClr val="0E6655"/>
          </a:solidFill>
        </p:spPr>
        <p:txBody>
          <a:bodyPr wrap="square" lIns="182880" tIns="91440" rIns="182880" bIns="91440" rtlCol="0" anchor="ctr"/>
          <a:lstStyle/>
          <a:p>
            <a:pPr algn="ctr" indent="0" marL="0">
              <a:buNone/>
            </a:pPr>
            <a:r>
              <a:rPr lang="fr-FR" sz="1600" b="1" dirty="0">
                <a:solidFill>
                  <a:srgbClr val="FFFFFF"/>
                </a:solidFill>
                <a:latin typeface="Arial" pitchFamily="34" charset="0"/>
              </a:rPr>
              <a:t>TESTS DE NON-RÉGRESSION</a:t>
            </a:r>
            <a:endParaRPr lang="fr-FR" dirty="0"/>
          </a:p>
          <a:p>
            <a:pPr algn="ctr" indent="0" marL="0">
              <a:buNone/>
            </a:pPr>
            <a:r>
              <a:rPr lang="fr-FR" sz="1000" dirty="0">
                <a:solidFill>
                  <a:srgbClr val="E8E8E8"/>
                </a:solidFill>
                <a:latin typeface="Arial" pitchFamily="34" charset="0"/>
              </a:rPr>
              <a:t>Vérification des autres fonctionnalités</a:t>
            </a:r>
            <a:endParaRPr lang="fr-FR" dirty="0"/>
          </a:p>
        </p:txBody>
      </p:sp>
      <p:sp>
        <p:nvSpPr>
          <p:cNvPr id="17" name="CBody2"/>
          <p:cNvSpPr/>
          <p:nvPr/>
        </p:nvSpPr>
        <p:spPr>
          <a:xfrm>
            <a:off x="7974320" y="1600000"/>
            <a:ext cx="3750000" cy="4200000"/>
          </a:xfrm>
          <a:prstGeom prst="rect">
            <a:avLst/>
          </a:prstGeom>
          <a:solidFill>
            <a:srgbClr val="F5F5F5"/>
          </a:solidFill>
        </p:spPr>
        <p:txBody>
          <a:bodyPr wrap="square" lIns="182880" tIns="182880" rIns="182880" bIns="91440" rtlCol="0" anchor="t"/>
          <a:lstStyle/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Vérification des autres fonctionnalités des modules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Validation du fonctionnement des écrans (hors évolutions)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Validation des éditions générées si concernées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Validation des schémas comptables</a:t>
            </a:r>
            <a:endParaRPr lang="fr-FR" dirty="0"/>
          </a:p>
          <a:p>
            <a:pPr algn="l" indent="0" marL="0">
              <a:buNone/>
            </a:pPr>
            <a:r>
              <a:rPr lang="fr-FR" sz="1200" dirty="0">
                <a:solidFill>
                  <a:srgbClr val="333333"/>
                </a:solidFill>
                <a:latin typeface="Arial" pitchFamily="34" charset="0"/>
              </a:rPr>
              <a:t>•  Non-régression confirmée avant passage SIT</a:t>
            </a:r>
            <a:endParaRPr lang="fr-FR" dirty="0"/>
          </a:p>
        </p:txBody>
      </p:sp>
      <p:sp>
        <p:nvSpPr>
          <p:cNvPr id="30" name="Footer"/>
          <p:cNvSpPr/>
          <p:nvPr/>
        </p:nvSpPr>
        <p:spPr>
          <a:xfrm>
            <a:off x="274320" y="6500000"/>
            <a:ext cx="11500000" cy="2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54565A"/>
                </a:solidFill>
                <a:latin typeface="Arial" pitchFamily="34" charset="0"/>
              </a:rPr>
              <a:t>All Rights Reserved © 2026  |  CAPITAL BANKING SOLUTIONS</a:t>
            </a:r>
            <a:endParaRPr lang="fr-FR" dirty="0"/>
          </a:p>
        </p:txBody>
      </p:sp>
      <p:sp>
        <p:nvSpPr>
          <p:cNvPr id="31" name="SlideNum"/>
          <p:cNvSpPr/>
          <p:nvPr/>
        </p:nvSpPr>
        <p:spPr>
          <a:xfrm>
            <a:off x="11200000" y="150000"/>
            <a:ext cx="700000" cy="3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1100" dirty="0">
                <a:solidFill>
                  <a:srgbClr val="54565A"/>
                </a:solidFill>
                <a:latin typeface="Arial" pitchFamily="34" charset="0"/>
              </a:rPr>
              <a:t>10</a:t>
            </a:r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371600" cy="438912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1828800" y="109728"/>
            <a:ext cx="960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2200" b="1" dirty="0">
                <a:solidFill>
                  <a:srgbClr val="000000"/>
                </a:solidFill>
                <a:latin typeface="Arial" pitchFamily="34" charset="0"/>
              </a:rPr>
              <a:t>Méthodologie &amp; Livrables</a:t>
            </a:r>
            <a:endParaRPr lang="fr-FR" dirty="0"/>
          </a:p>
        </p:txBody>
      </p:sp>
      <p:sp>
        <p:nvSpPr>
          <p:cNvPr id="4" name="Line"/>
          <p:cNvSpPr/>
          <p:nvPr/>
        </p:nvSpPr>
        <p:spPr>
          <a:xfrm>
            <a:off x="274320" y="650000"/>
            <a:ext cx="11600000" cy="9144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5" name="PrereqHdr"/>
          <p:cNvSpPr/>
          <p:nvPr/>
        </p:nvSpPr>
        <p:spPr>
          <a:xfrm>
            <a:off x="274320" y="750000"/>
            <a:ext cx="7200000" cy="420000"/>
          </a:xfrm>
          <a:prstGeom prst="rect">
            <a:avLst/>
          </a:prstGeom>
          <a:solidFill>
            <a:srgbClr val="1B3A6B"/>
          </a:solidFill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400" b="1" dirty="0">
                <a:solidFill>
                  <a:srgbClr val="FFFFFF"/>
                </a:solidFill>
                <a:latin typeface="Arial" pitchFamily="34" charset="0"/>
              </a:rPr>
              <a:t>Prérequis avant démarrage des paramétrages</a:t>
            </a:r>
            <a:endParaRPr lang="fr-FR" dirty="0"/>
          </a:p>
        </p:txBody>
      </p:sp>
      <p:sp>
        <p:nvSpPr>
          <p:cNvPr id="6" name="PrereqBody"/>
          <p:cNvSpPr/>
          <p:nvPr/>
        </p:nvSpPr>
        <p:spPr>
          <a:xfrm>
            <a:off x="274320" y="1170000"/>
            <a:ext cx="7200000" cy="1900000"/>
          </a:xfrm>
          <a:prstGeom prst="rect">
            <a:avLst/>
          </a:prstGeom>
          <a:solidFill>
            <a:srgbClr val="F5F5F5"/>
          </a:solidFill>
        </p:spPr>
        <p:txBody>
          <a:bodyPr wrap="square" lIns="182880" tIns="182880" rIns="182880" bIns="91440" rtlCol="0" anchor="t"/>
          <a:lstStyle/>
          <a:p>
            <a:pPr algn="l" indent="0" marL="0">
              <a:buNone/>
            </a:pPr>
            <a:r>
              <a:rPr lang="fr-FR" sz="1200" b="1" dirty="0">
                <a:solidFill>
                  <a:srgbClr val="1B3A6B"/>
                </a:solidFill>
                <a:latin typeface="Arial" pitchFamily="34" charset="0"/>
              </a:rPr>
              <a:t>Avant de démarrer, valider les éléments suivants :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333333"/>
                </a:solidFill>
                <a:latin typeface="Arial" pitchFamily="34" charset="0"/>
              </a:rPr>
              <a:t>✔  Connaissez-vous le menu / l'écran permettant d'accéder à cette fonctionnalité ?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333333"/>
                </a:solidFill>
                <a:latin typeface="Arial" pitchFamily="34" charset="0"/>
              </a:rPr>
              <a:t>✔  Savez-vous s'il faut un paramétrage pour faire fonctionner l'écran ?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333333"/>
                </a:solidFill>
                <a:latin typeface="Arial" pitchFamily="34" charset="0"/>
              </a:rPr>
              <a:t>✔  Connaissez-vous le paramétrage à mettre en place s'il en faut un ?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333333"/>
                </a:solidFill>
                <a:latin typeface="Arial" pitchFamily="34" charset="0"/>
              </a:rPr>
              <a:t>✔  Comprenez-vous le résultat attendu à la suite du test ?</a:t>
            </a:r>
            <a:endParaRPr lang="fr-FR" dirty="0"/>
          </a:p>
          <a:p>
            <a:pPr algn="l" indent="0" marL="0">
              <a:buNone/>
            </a:pPr>
            <a:r>
              <a:rPr lang="fr-FR" sz="1100" b="1" dirty="0">
                <a:solidFill>
                  <a:srgbClr val="E63329"/>
                </a:solidFill>
                <a:latin typeface="Arial" pitchFamily="34" charset="0"/>
              </a:rPr>
              <a:t>Si une réponse est négative → atelier avec l'équipe Produit CBS.</a:t>
            </a:r>
            <a:endParaRPr lang="fr-FR" dirty="0"/>
          </a:p>
        </p:txBody>
      </p:sp>
      <p:sp>
        <p:nvSpPr>
          <p:cNvPr id="7" name="TipsHdr"/>
          <p:cNvSpPr/>
          <p:nvPr/>
        </p:nvSpPr>
        <p:spPr>
          <a:xfrm>
            <a:off x="274320" y="3200000"/>
            <a:ext cx="7200000" cy="380000"/>
          </a:xfrm>
          <a:prstGeom prst="rect">
            <a:avLst/>
          </a:prstGeom>
          <a:solidFill>
            <a:srgbClr val="E63329"/>
          </a:solidFill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400" b="1" dirty="0">
                <a:solidFill>
                  <a:srgbClr val="FFFFFF"/>
                </a:solidFill>
                <a:latin typeface="Arial" pitchFamily="34" charset="0"/>
              </a:rPr>
              <a:t>💡  Bonnes pratiques</a:t>
            </a:r>
            <a:endParaRPr lang="fr-FR" dirty="0"/>
          </a:p>
        </p:txBody>
      </p:sp>
      <p:sp>
        <p:nvSpPr>
          <p:cNvPr id="8" name="TipsBody"/>
          <p:cNvSpPr/>
          <p:nvPr/>
        </p:nvSpPr>
        <p:spPr>
          <a:xfrm>
            <a:off x="274320" y="3580000"/>
            <a:ext cx="7200000" cy="210000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D4E"/>
            </a:solidFill>
            <a:prstDash val="solid"/>
          </a:ln>
        </p:spPr>
        <p:txBody>
          <a:bodyPr wrap="square" lIns="182880" tIns="182880" rIns="182880" bIns="91440" rtlCol="0" anchor="t"/>
          <a:lstStyle/>
          <a:p>
            <a:pPr algn="l" indent="0" marL="0">
              <a:buNone/>
            </a:pPr>
            <a:r>
              <a:rPr lang="fr-FR" sz="1100" dirty="0">
                <a:solidFill>
                  <a:srgbClr val="856404"/>
                </a:solidFill>
                <a:latin typeface="Arial" pitchFamily="34" charset="0"/>
              </a:rPr>
              <a:t>•  Les actions liées aux prérequis peuvent être effectuées sur l'environnement CLARANET en attendant la mise à disposition de l'environnement client.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856404"/>
                </a:solidFill>
                <a:latin typeface="Arial" pitchFamily="34" charset="0"/>
              </a:rPr>
              <a:t>•  Avoir le réflexe de vérifier un fonctionnement attendu sur CLARANET avant de tirer des conclusions.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856404"/>
                </a:solidFill>
                <a:latin typeface="Arial" pitchFamily="34" charset="0"/>
              </a:rPr>
              <a:t>•  Sur un fonctionnement différent de celui attendu par le client : faire reproduire sur la V2 pour comprendre et communiquer en interne (Produit / R&amp;D).</a:t>
            </a:r>
            <a:endParaRPr lang="fr-FR" dirty="0"/>
          </a:p>
        </p:txBody>
      </p:sp>
      <p:sp>
        <p:nvSpPr>
          <p:cNvPr id="9" name="LivHdr"/>
          <p:cNvSpPr/>
          <p:nvPr/>
        </p:nvSpPr>
        <p:spPr>
          <a:xfrm>
            <a:off x="7800000" y="750000"/>
            <a:ext cx="4100000" cy="420000"/>
          </a:xfrm>
          <a:prstGeom prst="rect">
            <a:avLst/>
          </a:prstGeom>
          <a:solidFill>
            <a:srgbClr val="1B3A6B"/>
          </a:solidFill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400" b="1" dirty="0">
                <a:solidFill>
                  <a:srgbClr val="FFFFFF"/>
                </a:solidFill>
                <a:latin typeface="Arial" pitchFamily="34" charset="0"/>
              </a:rPr>
              <a:t>Livrables &amp; Reporting</a:t>
            </a:r>
            <a:endParaRPr lang="fr-FR" dirty="0"/>
          </a:p>
        </p:txBody>
      </p:sp>
      <p:sp>
        <p:nvSpPr>
          <p:cNvPr id="10" name="LivBody"/>
          <p:cNvSpPr/>
          <p:nvPr/>
        </p:nvSpPr>
        <p:spPr>
          <a:xfrm>
            <a:off x="7800000" y="1170000"/>
            <a:ext cx="4100000" cy="1900000"/>
          </a:xfrm>
          <a:prstGeom prst="rect">
            <a:avLst/>
          </a:prstGeom>
          <a:solidFill>
            <a:srgbClr val="F5F5F5"/>
          </a:solidFill>
        </p:spPr>
        <p:txBody>
          <a:bodyPr wrap="square" lIns="182880" tIns="182880" rIns="182880" bIns="91440" rtlCol="0" anchor="t"/>
          <a:lstStyle/>
          <a:p>
            <a:pPr algn="l" indent="0" marL="0">
              <a:buNone/>
            </a:pPr>
            <a:r>
              <a:rPr lang="fr-FR" sz="1200" b="1" dirty="0">
                <a:solidFill>
                  <a:srgbClr val="1B3A6B"/>
                </a:solidFill>
                <a:latin typeface="Arial" pitchFamily="34" charset="0"/>
              </a:rPr>
              <a:t>Livrables à mettre à jour au fil de l'eau :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333333"/>
                </a:solidFill>
                <a:latin typeface="Arial" pitchFamily="34" charset="0"/>
              </a:rPr>
              <a:t>•  Fiches de paramétrage (depuis templates prérequis)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333333"/>
                </a:solidFill>
                <a:latin typeface="Arial" pitchFamily="34" charset="0"/>
              </a:rPr>
              <a:t>•  Cahiers de tests unitaires (templates fournis)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333333"/>
                </a:solidFill>
                <a:latin typeface="Arial" pitchFamily="34" charset="0"/>
              </a:rPr>
              <a:t>•  Cahiers de tests de non-régression (templates fournis)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l" indent="0" marL="0">
              <a:buNone/>
            </a:pPr>
            <a:r>
              <a:rPr lang="fr-FR" sz="1200" b="1" dirty="0">
                <a:solidFill>
                  <a:srgbClr val="1B3A6B"/>
                </a:solidFill>
                <a:latin typeface="Arial" pitchFamily="34" charset="0"/>
              </a:rPr>
              <a:t>Reporting hebdomadaire :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333333"/>
                </a:solidFill>
                <a:latin typeface="Arial" pitchFamily="34" charset="0"/>
              </a:rPr>
              <a:t>•  Rapport Flash chaque vendredi fin de journée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333333"/>
                </a:solidFill>
                <a:latin typeface="Arial" pitchFamily="34" charset="0"/>
              </a:rPr>
              <a:t>•  Template mis à disposition par le chef de projet</a:t>
            </a:r>
            <a:endParaRPr lang="fr-FR" dirty="0"/>
          </a:p>
        </p:txBody>
      </p:sp>
      <p:sp>
        <p:nvSpPr>
          <p:cNvPr id="11" name="LivTNR"/>
          <p:cNvSpPr/>
          <p:nvPr/>
        </p:nvSpPr>
        <p:spPr>
          <a:xfrm>
            <a:off x="7800000" y="3200000"/>
            <a:ext cx="4100000" cy="420000"/>
          </a:xfrm>
          <a:prstGeom prst="rect">
            <a:avLst/>
          </a:prstGeom>
          <a:solidFill>
            <a:srgbClr val="0E6655"/>
          </a:solidFill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400" b="1" dirty="0">
                <a:solidFill>
                  <a:srgbClr val="FFFFFF"/>
                </a:solidFill>
                <a:latin typeface="Arial" pitchFamily="34" charset="0"/>
              </a:rPr>
              <a:t>TNR — Tests de Non-Régression</a:t>
            </a:r>
            <a:endParaRPr lang="fr-FR" dirty="0"/>
          </a:p>
        </p:txBody>
      </p:sp>
      <p:sp>
        <p:nvSpPr>
          <p:cNvPr id="12" name="LivTNRBody"/>
          <p:cNvSpPr/>
          <p:nvPr/>
        </p:nvSpPr>
        <p:spPr>
          <a:xfrm>
            <a:off x="7800000" y="3620000"/>
            <a:ext cx="4100000" cy="2060000"/>
          </a:xfrm>
          <a:prstGeom prst="rect">
            <a:avLst/>
          </a:prstGeom>
          <a:solidFill>
            <a:srgbClr val="F5F5F5"/>
          </a:solidFill>
        </p:spPr>
        <p:txBody>
          <a:bodyPr wrap="square" lIns="182880" tIns="182880" rIns="182880" bIns="91440" rtlCol="0" anchor="t"/>
          <a:lstStyle/>
          <a:p>
            <a:pPr algn="l" indent="0" marL="0">
              <a:buNone/>
            </a:pPr>
            <a:r>
              <a:rPr lang="fr-FR" sz="1100" dirty="0">
                <a:solidFill>
                  <a:srgbClr val="333333"/>
                </a:solidFill>
                <a:latin typeface="Arial" pitchFamily="34" charset="0"/>
              </a:rPr>
              <a:t>Depuis la liste des fonctionnalités des modules,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333333"/>
                </a:solidFill>
                <a:latin typeface="Arial" pitchFamily="34" charset="0"/>
              </a:rPr>
              <a:t>en excluant les évolutions paramétrées (déjà testées),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333333"/>
                </a:solidFill>
                <a:latin typeface="Arial" pitchFamily="34" charset="0"/>
              </a:rPr>
              <a:t>effectuer les TNR afin de :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333333"/>
                </a:solidFill>
                <a:latin typeface="Arial" pitchFamily="34" charset="0"/>
              </a:rPr>
              <a:t>•  Valider le fonctionnement des écrans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333333"/>
                </a:solidFill>
                <a:latin typeface="Arial" pitchFamily="34" charset="0"/>
              </a:rPr>
              <a:t>•  Valider les éditions générées si concernées</a:t>
            </a:r>
            <a:endParaRPr lang="fr-FR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333333"/>
                </a:solidFill>
                <a:latin typeface="Arial" pitchFamily="34" charset="0"/>
              </a:rPr>
              <a:t>•  Valider les schémas comptables</a:t>
            </a:r>
            <a:endParaRPr lang="fr-FR" dirty="0"/>
          </a:p>
        </p:txBody>
      </p:sp>
      <p:sp>
        <p:nvSpPr>
          <p:cNvPr id="20" name="Footer"/>
          <p:cNvSpPr/>
          <p:nvPr/>
        </p:nvSpPr>
        <p:spPr>
          <a:xfrm>
            <a:off x="274320" y="6500000"/>
            <a:ext cx="11500000" cy="2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54565A"/>
                </a:solidFill>
                <a:latin typeface="Arial" pitchFamily="34" charset="0"/>
              </a:rPr>
              <a:t>All Rights Reserved © 2026  |  CAPITAL BANKING SOLUTIONS</a:t>
            </a:r>
            <a:endParaRPr lang="fr-FR" dirty="0"/>
          </a:p>
        </p:txBody>
      </p:sp>
      <p:sp>
        <p:nvSpPr>
          <p:cNvPr id="21" name="SlideNum"/>
          <p:cNvSpPr/>
          <p:nvPr/>
        </p:nvSpPr>
        <p:spPr>
          <a:xfrm>
            <a:off x="11200000" y="150000"/>
            <a:ext cx="700000" cy="3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1100" dirty="0">
                <a:solidFill>
                  <a:srgbClr val="54565A"/>
                </a:solidFill>
                <a:latin typeface="Arial" pitchFamily="34" charset="0"/>
              </a:rPr>
              <a:t>11</a:t>
            </a:r>
            <a:endParaRPr lang="fr-F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RedAccent"/>
          <p:cNvSpPr/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4" name="RedAccentBot"/>
          <p:cNvSpPr/>
          <p:nvPr/>
        </p:nvSpPr>
        <p:spPr>
          <a:xfrm>
            <a:off x="0" y="6658000"/>
            <a:ext cx="12192000" cy="200000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371600" cy="438912"/>
          </a:xfrm>
          <a:prstGeom prst="rect">
            <a:avLst/>
          </a:prstGeom>
        </p:spPr>
      </p:pic>
      <p:sp>
        <p:nvSpPr>
          <p:cNvPr id="5" name="NumTxt"/>
          <p:cNvSpPr/>
          <p:nvPr/>
        </p:nvSpPr>
        <p:spPr>
          <a:xfrm>
            <a:off x="3000000" y="1800000"/>
            <a:ext cx="6200000" cy="14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600" b="1" dirty="0">
                <a:solidFill>
                  <a:srgbClr val="E63329"/>
                </a:solidFill>
                <a:latin typeface="Arial" pitchFamily="34" charset="0"/>
              </a:rPr>
              <a:t>04</a:t>
            </a:r>
            <a:endParaRPr lang="fr-FR" dirty="0"/>
          </a:p>
        </p:txBody>
      </p:sp>
      <p:sp>
        <p:nvSpPr>
          <p:cNvPr id="6" name="TitleTxt"/>
          <p:cNvSpPr/>
          <p:nvPr/>
        </p:nvSpPr>
        <p:spPr>
          <a:xfrm>
            <a:off x="1500000" y="3300000"/>
            <a:ext cx="9200000" cy="9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3200" b="1" dirty="0">
                <a:solidFill>
                  <a:srgbClr val="FFFFFF"/>
                </a:solidFill>
                <a:latin typeface="Arial" pitchFamily="34" charset="0"/>
              </a:rPr>
              <a:t>Méthodologie de report / Kit &amp; Environnements</a:t>
            </a:r>
            <a:endParaRPr lang="fr-FR" dirty="0"/>
          </a:p>
        </p:txBody>
      </p:sp>
      <p:sp>
        <p:nvSpPr>
          <p:cNvPr id="7" name="FootTxt"/>
          <p:cNvSpPr/>
          <p:nvPr/>
        </p:nvSpPr>
        <p:spPr>
          <a:xfrm>
            <a:off x="0" y="6658000"/>
            <a:ext cx="12192000" cy="2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00" dirty="0">
                <a:solidFill>
                  <a:srgbClr val="FFFFFF"/>
                </a:solidFill>
                <a:latin typeface="Arial" pitchFamily="34" charset="0"/>
              </a:rPr>
              <a:t>All Rights Reserved © 2026  |  CAPITAL BANKING SOLUTIONS</a:t>
            </a:r>
            <a:endParaRPr lang="fr-F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371600" cy="438912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1828800" y="109728"/>
            <a:ext cx="960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2200" b="1" dirty="0">
                <a:solidFill>
                  <a:srgbClr val="000000"/>
                </a:solidFill>
                <a:latin typeface="Arial" pitchFamily="34" charset="0"/>
              </a:rPr>
              <a:t>Méthodologie de report des paramétrages</a:t>
            </a:r>
            <a:endParaRPr lang="fr-FR" dirty="0"/>
          </a:p>
        </p:txBody>
      </p:sp>
      <p:sp>
        <p:nvSpPr>
          <p:cNvPr id="4" name="Line"/>
          <p:cNvSpPr/>
          <p:nvPr/>
        </p:nvSpPr>
        <p:spPr>
          <a:xfrm>
            <a:off x="274320" y="650000"/>
            <a:ext cx="11600000" cy="9144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5" name="Placeholder"/>
          <p:cNvSpPr/>
          <p:nvPr/>
        </p:nvSpPr>
        <p:spPr>
          <a:xfrm>
            <a:off x="500000" y="900000"/>
            <a:ext cx="11200000" cy="53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2000" b="1" dirty="0">
                <a:solidFill>
                  <a:srgbClr val="54565A"/>
                </a:solidFill>
                <a:latin typeface="Arial" pitchFamily="34" charset="0"/>
              </a:rPr>
              <a:t>⚠  Contenu à mettre à jour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ctr" indent="0" marL="0">
              <a:buNone/>
            </a:pPr>
            <a:r>
              <a:rPr lang="fr-FR" sz="1400" dirty="0">
                <a:solidFill>
                  <a:srgbClr val="54565A"/>
                </a:solidFill>
                <a:latin typeface="Arial" pitchFamily="34" charset="0"/>
              </a:rPr>
              <a:t>Cette slide sera complétée après échanges avec Fadi</a:t>
            </a:r>
            <a:endParaRPr lang="fr-FR" dirty="0"/>
          </a:p>
          <a:p>
            <a:pPr algn="ctr" indent="0" marL="0">
              <a:buNone/>
            </a:pPr>
            <a:r>
              <a:rPr lang="fr-FR" sz="1400" dirty="0">
                <a:solidFill>
                  <a:srgbClr val="54565A"/>
                </a:solidFill>
                <a:latin typeface="Arial" pitchFamily="34" charset="0"/>
              </a:rPr>
              <a:t>sur la méthodologie de report des paramétrages et la mise à jour des outils.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ctr" indent="0" marL="0">
              <a:buNone/>
            </a:pPr>
            <a:r>
              <a:rPr lang="fr-FR" sz="1400" b="1" dirty="0">
                <a:solidFill>
                  <a:srgbClr val="1B3A6B"/>
                </a:solidFill>
                <a:latin typeface="Arial" pitchFamily="34" charset="0"/>
              </a:rPr>
              <a:t>Contenu attendu :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ctr" indent="0" marL="0">
              <a:buNone/>
            </a:pPr>
            <a:r>
              <a:rPr lang="fr-FR" sz="1300" dirty="0">
                <a:solidFill>
                  <a:srgbClr val="444444"/>
                </a:solidFill>
                <a:latin typeface="Arial" pitchFamily="34" charset="0"/>
              </a:rPr>
              <a:t>•  Processus de report et de suivi des paramétrages</a:t>
            </a:r>
            <a:endParaRPr lang="fr-FR" dirty="0"/>
          </a:p>
          <a:p>
            <a:pPr algn="ctr" indent="0" marL="0">
              <a:buNone/>
            </a:pPr>
            <a:r>
              <a:rPr lang="fr-FR" sz="1300" dirty="0">
                <a:solidFill>
                  <a:srgbClr val="444444"/>
                </a:solidFill>
                <a:latin typeface="Arial" pitchFamily="34" charset="0"/>
              </a:rPr>
              <a:t>•  Outils de report (Jira, Excel, autre...)</a:t>
            </a:r>
            <a:endParaRPr lang="fr-FR" dirty="0"/>
          </a:p>
          <a:p>
            <a:pPr algn="ctr" indent="0" marL="0">
              <a:buNone/>
            </a:pPr>
            <a:r>
              <a:rPr lang="fr-FR" sz="1300" dirty="0">
                <a:solidFill>
                  <a:srgbClr val="444444"/>
                </a:solidFill>
                <a:latin typeface="Arial" pitchFamily="34" charset="0"/>
              </a:rPr>
              <a:t>•  Environnements disponibles (Claranet, client)</a:t>
            </a:r>
            <a:endParaRPr lang="fr-FR" dirty="0"/>
          </a:p>
          <a:p>
            <a:pPr algn="ctr" indent="0" marL="0">
              <a:buNone/>
            </a:pPr>
            <a:r>
              <a:rPr lang="fr-FR" sz="1300" dirty="0">
                <a:solidFill>
                  <a:srgbClr val="444444"/>
                </a:solidFill>
                <a:latin typeface="Arial" pitchFamily="34" charset="0"/>
              </a:rPr>
              <a:t>•  Kit de démarrage et templates disponibles</a:t>
            </a:r>
            <a:endParaRPr lang="fr-FR" dirty="0"/>
          </a:p>
          <a:p>
            <a:pPr algn="ctr" indent="0" marL="0">
              <a:buNone/>
            </a:pPr>
            <a:r>
              <a:rPr lang="fr-FR" sz="1300" dirty="0">
                <a:solidFill>
                  <a:srgbClr val="444444"/>
                </a:solidFill>
                <a:latin typeface="Arial" pitchFamily="34" charset="0"/>
              </a:rPr>
              <a:t>•  Accès et habilitations aux outils</a:t>
            </a:r>
            <a:endParaRPr lang="fr-FR" dirty="0"/>
          </a:p>
        </p:txBody>
      </p:sp>
      <p:sp>
        <p:nvSpPr>
          <p:cNvPr id="10" name="Footer"/>
          <p:cNvSpPr/>
          <p:nvPr/>
        </p:nvSpPr>
        <p:spPr>
          <a:xfrm>
            <a:off x="274320" y="6500000"/>
            <a:ext cx="11500000" cy="2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54565A"/>
                </a:solidFill>
                <a:latin typeface="Arial" pitchFamily="34" charset="0"/>
              </a:rPr>
              <a:t>All Rights Reserved © 2026  |  CAPITAL BANKING SOLUTIONS</a:t>
            </a:r>
            <a:endParaRPr lang="fr-FR" dirty="0"/>
          </a:p>
        </p:txBody>
      </p:sp>
      <p:sp>
        <p:nvSpPr>
          <p:cNvPr id="11" name="SlideNum"/>
          <p:cNvSpPr/>
          <p:nvPr/>
        </p:nvSpPr>
        <p:spPr>
          <a:xfrm>
            <a:off x="11200000" y="150000"/>
            <a:ext cx="700000" cy="3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1100" dirty="0">
                <a:solidFill>
                  <a:srgbClr val="54565A"/>
                </a:solidFill>
                <a:latin typeface="Arial" pitchFamily="34" charset="0"/>
              </a:rPr>
              <a:t>13</a:t>
            </a:r>
            <a:endParaRPr lang="fr-F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RedAccent"/>
          <p:cNvSpPr/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4" name="RedAccentBot"/>
          <p:cNvSpPr/>
          <p:nvPr/>
        </p:nvSpPr>
        <p:spPr>
          <a:xfrm>
            <a:off x="0" y="6658000"/>
            <a:ext cx="12192000" cy="200000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371600" cy="438912"/>
          </a:xfrm>
          <a:prstGeom prst="rect">
            <a:avLst/>
          </a:prstGeom>
        </p:spPr>
      </p:pic>
      <p:sp>
        <p:nvSpPr>
          <p:cNvPr id="5" name="NumTxt"/>
          <p:cNvSpPr/>
          <p:nvPr/>
        </p:nvSpPr>
        <p:spPr>
          <a:xfrm>
            <a:off x="3000000" y="1800000"/>
            <a:ext cx="6200000" cy="14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600" b="1" dirty="0">
                <a:solidFill>
                  <a:srgbClr val="E63329"/>
                </a:solidFill>
                <a:latin typeface="Arial" pitchFamily="34" charset="0"/>
              </a:rPr>
              <a:t>05</a:t>
            </a:r>
            <a:endParaRPr lang="fr-FR" dirty="0"/>
          </a:p>
        </p:txBody>
      </p:sp>
      <p:sp>
        <p:nvSpPr>
          <p:cNvPr id="6" name="TitleTxt"/>
          <p:cNvSpPr/>
          <p:nvPr/>
        </p:nvSpPr>
        <p:spPr>
          <a:xfrm>
            <a:off x="1500000" y="3300000"/>
            <a:ext cx="9200000" cy="9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3200" b="1" dirty="0">
                <a:solidFill>
                  <a:srgbClr val="FFFFFF"/>
                </a:solidFill>
                <a:latin typeface="Arial" pitchFamily="34" charset="0"/>
              </a:rPr>
              <a:t>Plan de travail</a:t>
            </a:r>
            <a:endParaRPr lang="fr-FR" dirty="0"/>
          </a:p>
        </p:txBody>
      </p:sp>
      <p:sp>
        <p:nvSpPr>
          <p:cNvPr id="7" name="FootTxt"/>
          <p:cNvSpPr/>
          <p:nvPr/>
        </p:nvSpPr>
        <p:spPr>
          <a:xfrm>
            <a:off x="0" y="6658000"/>
            <a:ext cx="12192000" cy="2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00" dirty="0">
                <a:solidFill>
                  <a:srgbClr val="FFFFFF"/>
                </a:solidFill>
                <a:latin typeface="Arial" pitchFamily="34" charset="0"/>
              </a:rPr>
              <a:t>All Rights Reserved © 2026  |  CAPITAL BANKING SOLUTIONS</a:t>
            </a:r>
            <a:endParaRPr lang="fr-F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371600" cy="438912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1828800" y="109728"/>
            <a:ext cx="960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2200" b="1" dirty="0">
                <a:solidFill>
                  <a:srgbClr val="000000"/>
                </a:solidFill>
                <a:latin typeface="Arial" pitchFamily="34" charset="0"/>
              </a:rPr>
              <a:t>Planning Global — Programme BOA Upgrade V4</a:t>
            </a:r>
            <a:endParaRPr lang="fr-FR" dirty="0"/>
          </a:p>
        </p:txBody>
      </p:sp>
      <p:sp>
        <p:nvSpPr>
          <p:cNvPr id="4" name="Line"/>
          <p:cNvSpPr/>
          <p:nvPr/>
        </p:nvSpPr>
        <p:spPr>
          <a:xfrm>
            <a:off x="274320" y="650000"/>
            <a:ext cx="11600000" cy="9144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5" name="TimelineBar"/>
          <p:cNvSpPr/>
          <p:nvPr/>
        </p:nvSpPr>
        <p:spPr>
          <a:xfrm>
            <a:off x="274320" y="900000"/>
            <a:ext cx="11600000" cy="8000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10" name="JalonDot0"/>
          <p:cNvSpPr/>
          <p:nvPr/>
        </p:nvSpPr>
        <p:spPr>
          <a:xfrm>
            <a:off x="700000" y="860000"/>
            <a:ext cx="180000" cy="180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JalonDate0"/>
          <p:cNvSpPr/>
          <p:nvPr/>
        </p:nvSpPr>
        <p:spPr>
          <a:xfrm>
            <a:off x="300000" y="1100000"/>
            <a:ext cx="1000000" cy="3500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1000" b="1" dirty="0">
                <a:solidFill>
                  <a:srgbClr val="1B3A6B"/>
                </a:solidFill>
                <a:latin typeface="Arial" pitchFamily="34" charset="0"/>
              </a:rPr>
              <a:t>19 janv. 2026</a:t>
            </a:r>
            <a:endParaRPr lang="fr-FR" dirty="0"/>
          </a:p>
        </p:txBody>
      </p:sp>
      <p:sp>
        <p:nvSpPr>
          <p:cNvPr id="12" name="JalonLabel0"/>
          <p:cNvSpPr/>
          <p:nvPr/>
        </p:nvSpPr>
        <p:spPr>
          <a:xfrm>
            <a:off x="300000" y="1450000"/>
            <a:ext cx="1000000" cy="5000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1000" dirty="0">
                <a:solidFill>
                  <a:srgbClr val="54565A"/>
                </a:solidFill>
                <a:latin typeface="Arial" pitchFamily="34" charset="0"/>
              </a:rPr>
              <a:t>Démarrage
Phase Build</a:t>
            </a:r>
            <a:endParaRPr lang="fr-FR" dirty="0"/>
          </a:p>
        </p:txBody>
      </p:sp>
      <p:sp>
        <p:nvSpPr>
          <p:cNvPr id="13" name="JalonDot1"/>
          <p:cNvSpPr/>
          <p:nvPr/>
        </p:nvSpPr>
        <p:spPr>
          <a:xfrm>
            <a:off x="3400000" y="860000"/>
            <a:ext cx="180000" cy="180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JalonDate1"/>
          <p:cNvSpPr/>
          <p:nvPr/>
        </p:nvSpPr>
        <p:spPr>
          <a:xfrm>
            <a:off x="3000000" y="1100000"/>
            <a:ext cx="1000000" cy="3500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1000" b="1" dirty="0">
                <a:solidFill>
                  <a:srgbClr val="1B3A6B"/>
                </a:solidFill>
                <a:latin typeface="Arial" pitchFamily="34" charset="0"/>
              </a:rPr>
              <a:t>23 mars 2026</a:t>
            </a:r>
            <a:endParaRPr lang="fr-FR" dirty="0"/>
          </a:p>
        </p:txBody>
      </p:sp>
      <p:sp>
        <p:nvSpPr>
          <p:cNvPr id="15" name="JalonLabel1"/>
          <p:cNvSpPr/>
          <p:nvPr/>
        </p:nvSpPr>
        <p:spPr>
          <a:xfrm>
            <a:off x="3000000" y="1450000"/>
            <a:ext cx="1000000" cy="5000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1000" dirty="0">
                <a:solidFill>
                  <a:srgbClr val="54565A"/>
                </a:solidFill>
                <a:latin typeface="Arial" pitchFamily="34" charset="0"/>
              </a:rPr>
              <a:t>Kick-off
Fonctionnel</a:t>
            </a:r>
            <a:endParaRPr lang="fr-FR" dirty="0"/>
          </a:p>
        </p:txBody>
      </p:sp>
      <p:sp>
        <p:nvSpPr>
          <p:cNvPr id="16" name="JalonDot2"/>
          <p:cNvSpPr/>
          <p:nvPr/>
        </p:nvSpPr>
        <p:spPr>
          <a:xfrm>
            <a:off x="6000000" y="860000"/>
            <a:ext cx="180000" cy="180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JalonDate2"/>
          <p:cNvSpPr/>
          <p:nvPr/>
        </p:nvSpPr>
        <p:spPr>
          <a:xfrm>
            <a:off x="5600000" y="1100000"/>
            <a:ext cx="1000000" cy="3500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1000" b="1" dirty="0">
                <a:solidFill>
                  <a:srgbClr val="1B3A6B"/>
                </a:solidFill>
                <a:latin typeface="Arial" pitchFamily="34" charset="0"/>
              </a:rPr>
              <a:t>13 avr. 2026</a:t>
            </a:r>
            <a:endParaRPr lang="fr-FR" dirty="0"/>
          </a:p>
        </p:txBody>
      </p:sp>
      <p:sp>
        <p:nvSpPr>
          <p:cNvPr id="18" name="JalonLabel2"/>
          <p:cNvSpPr/>
          <p:nvPr/>
        </p:nvSpPr>
        <p:spPr>
          <a:xfrm>
            <a:off x="5600000" y="1450000"/>
            <a:ext cx="1000000" cy="5000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1000" dirty="0">
                <a:solidFill>
                  <a:srgbClr val="54565A"/>
                </a:solidFill>
                <a:latin typeface="Arial" pitchFamily="34" charset="0"/>
              </a:rPr>
              <a:t>Build
Complete</a:t>
            </a:r>
            <a:endParaRPr lang="fr-FR" dirty="0"/>
          </a:p>
        </p:txBody>
      </p:sp>
      <p:sp>
        <p:nvSpPr>
          <p:cNvPr id="19" name="JalonDot3"/>
          <p:cNvSpPr/>
          <p:nvPr/>
        </p:nvSpPr>
        <p:spPr>
          <a:xfrm>
            <a:off x="8200000" y="860000"/>
            <a:ext cx="180000" cy="180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JalonDate3"/>
          <p:cNvSpPr/>
          <p:nvPr/>
        </p:nvSpPr>
        <p:spPr>
          <a:xfrm>
            <a:off x="7800000" y="1100000"/>
            <a:ext cx="1000000" cy="3500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1000" b="1" dirty="0">
                <a:solidFill>
                  <a:srgbClr val="1B3A6B"/>
                </a:solidFill>
                <a:latin typeface="Arial" pitchFamily="34" charset="0"/>
              </a:rPr>
              <a:t>juin 2026</a:t>
            </a:r>
            <a:endParaRPr lang="fr-FR" dirty="0"/>
          </a:p>
        </p:txBody>
      </p:sp>
      <p:sp>
        <p:nvSpPr>
          <p:cNvPr id="21" name="JalonLabel3"/>
          <p:cNvSpPr/>
          <p:nvPr/>
        </p:nvSpPr>
        <p:spPr>
          <a:xfrm>
            <a:off x="7800000" y="1450000"/>
            <a:ext cx="1000000" cy="5000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1000" dirty="0">
                <a:solidFill>
                  <a:srgbClr val="54565A"/>
                </a:solidFill>
                <a:latin typeface="Arial" pitchFamily="34" charset="0"/>
              </a:rPr>
              <a:t>SIT / UAT</a:t>
            </a:r>
            <a:endParaRPr lang="fr-FR" dirty="0"/>
          </a:p>
        </p:txBody>
      </p:sp>
      <p:sp>
        <p:nvSpPr>
          <p:cNvPr id="22" name="JalonDot4"/>
          <p:cNvSpPr/>
          <p:nvPr/>
        </p:nvSpPr>
        <p:spPr>
          <a:xfrm>
            <a:off x="10500000" y="860000"/>
            <a:ext cx="180000" cy="180000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23" name="JalonDate4"/>
          <p:cNvSpPr/>
          <p:nvPr/>
        </p:nvSpPr>
        <p:spPr>
          <a:xfrm>
            <a:off x="10100000" y="1100000"/>
            <a:ext cx="1000000" cy="3500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1000" b="1" dirty="0">
                <a:solidFill>
                  <a:srgbClr val="E63329"/>
                </a:solidFill>
                <a:latin typeface="Arial" pitchFamily="34" charset="0"/>
              </a:rPr>
              <a:t>15 juil. 2026</a:t>
            </a:r>
            <a:endParaRPr lang="fr-FR" dirty="0"/>
          </a:p>
        </p:txBody>
      </p:sp>
      <p:sp>
        <p:nvSpPr>
          <p:cNvPr id="24" name="JalonLabel4"/>
          <p:cNvSpPr/>
          <p:nvPr/>
        </p:nvSpPr>
        <p:spPr>
          <a:xfrm>
            <a:off x="10100000" y="1450000"/>
            <a:ext cx="1000000" cy="5000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1000" dirty="0">
                <a:solidFill>
                  <a:srgbClr val="54565A"/>
                </a:solidFill>
                <a:latin typeface="Arial" pitchFamily="34" charset="0"/>
              </a:rPr>
              <a:t>GO LIVE ✓</a:t>
            </a:r>
            <a:endParaRPr lang="fr-FR" dirty="0"/>
          </a:p>
        </p:txBody>
      </p:sp>
      <p:sp>
        <p:nvSpPr>
          <p:cNvPr id="50" name="PlanningNote"/>
          <p:cNvSpPr/>
          <p:nvPr/>
        </p:nvSpPr>
        <p:spPr>
          <a:xfrm>
            <a:off x="274320" y="2200000"/>
            <a:ext cx="11600000" cy="37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1800" b="1" dirty="0">
                <a:solidFill>
                  <a:srgbClr val="1B3A6B"/>
                </a:solidFill>
                <a:latin typeface="Arial" pitchFamily="34" charset="0"/>
              </a:rPr>
              <a:t>📋  Retroplanning détaillé — Phase Paramétrage &amp; Tests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ctr" indent="0" marL="0">
              <a:buNone/>
            </a:pPr>
            <a:r>
              <a:rPr lang="fr-FR" sz="1300" dirty="0">
                <a:solidFill>
                  <a:srgbClr val="333333"/>
                </a:solidFill>
                <a:latin typeface="Arial" pitchFamily="34" charset="0"/>
              </a:rPr>
              <a:t>23 mars  →  Kick-off fonctionnel + démarrage paramétrages</a:t>
            </a:r>
            <a:endParaRPr lang="fr-FR" dirty="0"/>
          </a:p>
          <a:p>
            <a:pPr algn="ctr" indent="0" marL="0">
              <a:buNone/>
            </a:pPr>
            <a:r>
              <a:rPr lang="fr-FR" sz="1300" dirty="0">
                <a:solidFill>
                  <a:srgbClr val="333333"/>
                </a:solidFill>
                <a:latin typeface="Arial" pitchFamily="34" charset="0"/>
              </a:rPr>
              <a:t>24 mars — 11 avr.  →  Paramétrages &amp; Tests Unitaires (3 semaines)</a:t>
            </a:r>
            <a:endParaRPr lang="fr-FR" dirty="0"/>
          </a:p>
          <a:p>
            <a:pPr algn="ctr" indent="0" marL="0">
              <a:buNone/>
            </a:pPr>
            <a:r>
              <a:rPr lang="fr-FR" sz="1300" dirty="0">
                <a:solidFill>
                  <a:srgbClr val="333333"/>
                </a:solidFill>
                <a:latin typeface="Arial" pitchFamily="34" charset="0"/>
              </a:rPr>
              <a:t>14 avr. — 15 mai  →  Tests de Non-Régression (4 semaines)</a:t>
            </a:r>
            <a:endParaRPr lang="fr-FR" dirty="0"/>
          </a:p>
          <a:p>
            <a:pPr algn="l" indent="0" marL="0">
              <a:buNone/>
            </a:pPr>
            <a:r>
              <a:rPr lang="fr-FR" sz="1000" dirty="0">
                <a:solidFill>
                  <a:srgbClr val="000000"/>
                </a:solidFill>
                <a:latin typeface="Arial" pitchFamily="34" charset="0"/>
              </a:rPr>
              <a:t xml:space="preserve"> </a:t>
            </a:r>
            <a:endParaRPr lang="fr-FR" dirty="0"/>
          </a:p>
          <a:p>
            <a:pPr algn="ctr" indent="0" marL="0">
              <a:buNone/>
            </a:pPr>
            <a:r>
              <a:rPr lang="fr-FR" sz="1200" dirty="0">
                <a:solidFill>
                  <a:srgbClr val="54565A"/>
                </a:solidFill>
                <a:latin typeface="Arial" pitchFamily="34" charset="0"/>
              </a:rPr>
              <a:t>Le planning détaillé par consultant est présenté sur le slide suivant.</a:t>
            </a:r>
            <a:endParaRPr lang="fr-FR" dirty="0"/>
          </a:p>
        </p:txBody>
      </p:sp>
      <p:sp>
        <p:nvSpPr>
          <p:cNvPr id="60" name="Footer"/>
          <p:cNvSpPr/>
          <p:nvPr/>
        </p:nvSpPr>
        <p:spPr>
          <a:xfrm>
            <a:off x="274320" y="6500000"/>
            <a:ext cx="11500000" cy="2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54565A"/>
                </a:solidFill>
                <a:latin typeface="Arial" pitchFamily="34" charset="0"/>
              </a:rPr>
              <a:t>All Rights Reserved © 2026  |  CAPITAL BANKING SOLUTIONS</a:t>
            </a:r>
            <a:endParaRPr lang="fr-FR" dirty="0"/>
          </a:p>
        </p:txBody>
      </p:sp>
      <p:sp>
        <p:nvSpPr>
          <p:cNvPr id="61" name="SlideNum"/>
          <p:cNvSpPr/>
          <p:nvPr/>
        </p:nvSpPr>
        <p:spPr>
          <a:xfrm>
            <a:off x="11200000" y="150000"/>
            <a:ext cx="700000" cy="3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1100" dirty="0">
                <a:solidFill>
                  <a:srgbClr val="54565A"/>
                </a:solidFill>
                <a:latin typeface="Arial" pitchFamily="34" charset="0"/>
              </a:rPr>
              <a:t>15</a:t>
            </a:r>
            <a:endParaRPr lang="fr-F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1371600" cy="438912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1828800" y="109728"/>
            <a:ext cx="9600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2200" b="1" dirty="0">
                <a:solidFill>
                  <a:srgbClr val="000000"/>
                </a:solidFill>
                <a:latin typeface="Arial" pitchFamily="34" charset="0"/>
              </a:rPr>
              <a:t>Planning des travaux fonctionnels</a:t>
            </a:r>
            <a:endParaRPr lang="fr-FR" dirty="0"/>
          </a:p>
        </p:txBody>
      </p:sp>
      <p:sp>
        <p:nvSpPr>
          <p:cNvPr id="4" name="Line"/>
          <p:cNvSpPr/>
          <p:nvPr/>
        </p:nvSpPr>
        <p:spPr>
          <a:xfrm>
            <a:off x="274320" y="650000"/>
            <a:ext cx="11600000" cy="9144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5" name="LegParam"/>
          <p:cNvSpPr/>
          <p:nvPr/>
        </p:nvSpPr>
        <p:spPr>
          <a:xfrm>
            <a:off x="274320" y="720000"/>
            <a:ext cx="300000" cy="25000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6" name="LegParamTxt"/>
          <p:cNvSpPr/>
          <p:nvPr/>
        </p:nvSpPr>
        <p:spPr>
          <a:xfrm>
            <a:off x="600000" y="720000"/>
            <a:ext cx="2000000" cy="2500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fr-FR" sz="1000" dirty="0">
                <a:solidFill>
                  <a:srgbClr val="1B3A6B"/>
                </a:solidFill>
                <a:latin typeface="Arial" pitchFamily="34" charset="0"/>
              </a:rPr>
              <a:t>Paramétrages &amp; TU</a:t>
            </a:r>
            <a:endParaRPr lang="fr-FR" dirty="0"/>
          </a:p>
        </p:txBody>
      </p:sp>
      <p:sp>
        <p:nvSpPr>
          <p:cNvPr id="7" name="LegTNR"/>
          <p:cNvSpPr/>
          <p:nvPr/>
        </p:nvSpPr>
        <p:spPr>
          <a:xfrm>
            <a:off x="2800000" y="720000"/>
            <a:ext cx="300000" cy="250000"/>
          </a:xfrm>
          <a:prstGeom prst="rect">
            <a:avLst/>
          </a:prstGeom>
          <a:solidFill>
            <a:srgbClr val="E63329"/>
          </a:solidFill>
        </p:spPr>
      </p:sp>
      <p:sp>
        <p:nvSpPr>
          <p:cNvPr id="8" name="LegTNRTxt"/>
          <p:cNvSpPr/>
          <p:nvPr/>
        </p:nvSpPr>
        <p:spPr>
          <a:xfrm>
            <a:off x="3150000" y="720000"/>
            <a:ext cx="2000000" cy="2500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fr-FR" sz="1000" dirty="0">
                <a:solidFill>
                  <a:srgbClr val="E63329"/>
                </a:solidFill>
                <a:latin typeface="Arial" pitchFamily="34" charset="0"/>
              </a:rPr>
              <a:t>Tests de Non-Régression</a:t>
            </a:r>
            <a:endParaRPr lang="fr-FR" dirty="0"/>
          </a:p>
        </p:txBody>
      </p:sp>
      <p:sp>
        <p:nvSpPr>
          <p:cNvPr id="9" name="GanttHdr"/>
          <p:cNvSpPr/>
          <p:nvPr/>
        </p:nvSpPr>
        <p:spPr>
          <a:xfrm>
            <a:off x="274320" y="1050000"/>
            <a:ext cx="2400000" cy="350000"/>
          </a:xfrm>
          <a:prstGeom prst="rect">
            <a:avLst/>
          </a:prstGeom>
          <a:solidFill>
            <a:srgbClr val="1B3A6B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1000" b="1" dirty="0">
                <a:solidFill>
                  <a:srgbClr val="FFFFFF"/>
                </a:solidFill>
                <a:latin typeface="Arial" pitchFamily="34" charset="0"/>
              </a:rPr>
              <a:t>Consultant</a:t>
            </a:r>
            <a:endParaRPr lang="fr-FR" dirty="0"/>
          </a:p>
        </p:txBody>
      </p:sp>
      <p:sp>
        <p:nvSpPr>
          <p:cNvPr id="20" name="Wk0"/>
          <p:cNvSpPr/>
          <p:nvPr/>
        </p:nvSpPr>
        <p:spPr>
          <a:xfrm>
            <a:off x="2700000" y="1050000"/>
            <a:ext cx="1130000" cy="350000"/>
          </a:xfrm>
          <a:prstGeom prst="rect">
            <a:avLst/>
          </a:prstGeom>
          <a:solidFill>
            <a:srgbClr val="1B3A6B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00" b="1" dirty="0">
                <a:solidFill>
                  <a:srgbClr val="FFFFFF"/>
                </a:solidFill>
                <a:latin typeface="Arial" pitchFamily="34" charset="0"/>
              </a:rPr>
              <a:t>23 mars</a:t>
            </a:r>
            <a:endParaRPr lang="fr-FR" dirty="0"/>
          </a:p>
        </p:txBody>
      </p:sp>
      <p:sp>
        <p:nvSpPr>
          <p:cNvPr id="21" name="Wk1"/>
          <p:cNvSpPr/>
          <p:nvPr/>
        </p:nvSpPr>
        <p:spPr>
          <a:xfrm>
            <a:off x="3850000" y="1050000"/>
            <a:ext cx="1130000" cy="350000"/>
          </a:xfrm>
          <a:prstGeom prst="rect">
            <a:avLst/>
          </a:prstGeom>
          <a:solidFill>
            <a:srgbClr val="1B3A6B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00" b="1" dirty="0">
                <a:solidFill>
                  <a:srgbClr val="FFFFFF"/>
                </a:solidFill>
                <a:latin typeface="Arial" pitchFamily="34" charset="0"/>
              </a:rPr>
              <a:t>30 mars</a:t>
            </a:r>
            <a:endParaRPr lang="fr-FR" dirty="0"/>
          </a:p>
        </p:txBody>
      </p:sp>
      <p:sp>
        <p:nvSpPr>
          <p:cNvPr id="22" name="Wk2"/>
          <p:cNvSpPr/>
          <p:nvPr/>
        </p:nvSpPr>
        <p:spPr>
          <a:xfrm>
            <a:off x="5000000" y="1050000"/>
            <a:ext cx="1130000" cy="350000"/>
          </a:xfrm>
          <a:prstGeom prst="rect">
            <a:avLst/>
          </a:prstGeom>
          <a:solidFill>
            <a:srgbClr val="1B3A6B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00" b="1" dirty="0">
                <a:solidFill>
                  <a:srgbClr val="FFFFFF"/>
                </a:solidFill>
                <a:latin typeface="Arial" pitchFamily="34" charset="0"/>
              </a:rPr>
              <a:t>6 avr.</a:t>
            </a:r>
            <a:endParaRPr lang="fr-FR" dirty="0"/>
          </a:p>
        </p:txBody>
      </p:sp>
      <p:sp>
        <p:nvSpPr>
          <p:cNvPr id="23" name="Wk3"/>
          <p:cNvSpPr/>
          <p:nvPr/>
        </p:nvSpPr>
        <p:spPr>
          <a:xfrm>
            <a:off x="6150000" y="1050000"/>
            <a:ext cx="1130000" cy="350000"/>
          </a:xfrm>
          <a:prstGeom prst="rect">
            <a:avLst/>
          </a:prstGeom>
          <a:solidFill>
            <a:srgbClr val="54565A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00" b="1" dirty="0">
                <a:solidFill>
                  <a:srgbClr val="FFFFFF"/>
                </a:solidFill>
                <a:latin typeface="Arial" pitchFamily="34" charset="0"/>
              </a:rPr>
              <a:t>13 avr.</a:t>
            </a:r>
            <a:endParaRPr lang="fr-FR" dirty="0"/>
          </a:p>
        </p:txBody>
      </p:sp>
      <p:sp>
        <p:nvSpPr>
          <p:cNvPr id="24" name="Wk4"/>
          <p:cNvSpPr/>
          <p:nvPr/>
        </p:nvSpPr>
        <p:spPr>
          <a:xfrm>
            <a:off x="7300000" y="1050000"/>
            <a:ext cx="1130000" cy="350000"/>
          </a:xfrm>
          <a:prstGeom prst="rect">
            <a:avLst/>
          </a:prstGeom>
          <a:solidFill>
            <a:srgbClr val="54565A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00" b="1" dirty="0">
                <a:solidFill>
                  <a:srgbClr val="FFFFFF"/>
                </a:solidFill>
                <a:latin typeface="Arial" pitchFamily="34" charset="0"/>
              </a:rPr>
              <a:t>20 avr.</a:t>
            </a:r>
            <a:endParaRPr lang="fr-FR" dirty="0"/>
          </a:p>
        </p:txBody>
      </p:sp>
      <p:sp>
        <p:nvSpPr>
          <p:cNvPr id="25" name="Wk5"/>
          <p:cNvSpPr/>
          <p:nvPr/>
        </p:nvSpPr>
        <p:spPr>
          <a:xfrm>
            <a:off x="8450000" y="1050000"/>
            <a:ext cx="1130000" cy="350000"/>
          </a:xfrm>
          <a:prstGeom prst="rect">
            <a:avLst/>
          </a:prstGeom>
          <a:solidFill>
            <a:srgbClr val="54565A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00" b="1" dirty="0">
                <a:solidFill>
                  <a:srgbClr val="FFFFFF"/>
                </a:solidFill>
                <a:latin typeface="Arial" pitchFamily="34" charset="0"/>
              </a:rPr>
              <a:t>27 avr.</a:t>
            </a:r>
            <a:endParaRPr lang="fr-FR" dirty="0"/>
          </a:p>
        </p:txBody>
      </p:sp>
      <p:sp>
        <p:nvSpPr>
          <p:cNvPr id="26" name="Wk6"/>
          <p:cNvSpPr/>
          <p:nvPr/>
        </p:nvSpPr>
        <p:spPr>
          <a:xfrm>
            <a:off x="9600000" y="1050000"/>
            <a:ext cx="1130000" cy="350000"/>
          </a:xfrm>
          <a:prstGeom prst="rect">
            <a:avLst/>
          </a:prstGeom>
          <a:solidFill>
            <a:srgbClr val="54565A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00" b="1" dirty="0">
                <a:solidFill>
                  <a:srgbClr val="FFFFFF"/>
                </a:solidFill>
                <a:latin typeface="Arial" pitchFamily="34" charset="0"/>
              </a:rPr>
              <a:t>4 mai</a:t>
            </a:r>
            <a:endParaRPr lang="fr-FR" dirty="0"/>
          </a:p>
        </p:txBody>
      </p:sp>
      <p:sp>
        <p:nvSpPr>
          <p:cNvPr id="27" name="Wk7"/>
          <p:cNvSpPr/>
          <p:nvPr/>
        </p:nvSpPr>
        <p:spPr>
          <a:xfrm>
            <a:off x="10750000" y="1050000"/>
            <a:ext cx="1130000" cy="350000"/>
          </a:xfrm>
          <a:prstGeom prst="rect">
            <a:avLst/>
          </a:prstGeom>
          <a:solidFill>
            <a:srgbClr val="54565A"/>
          </a:solidFill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00" b="1" dirty="0">
                <a:solidFill>
                  <a:srgbClr val="FFFFFF"/>
                </a:solidFill>
                <a:latin typeface="Arial" pitchFamily="34" charset="0"/>
              </a:rPr>
              <a:t>11 mai</a:t>
            </a:r>
            <a:endParaRPr lang="fr-FR" dirty="0"/>
          </a:p>
        </p:txBody>
      </p:sp>
      <p:sp>
        <p:nvSpPr>
          <p:cNvPr id="30" name="ConsName0"/>
          <p:cNvSpPr/>
          <p:nvPr/>
        </p:nvSpPr>
        <p:spPr>
          <a:xfrm>
            <a:off x="274320" y="1450000"/>
            <a:ext cx="2400000" cy="740000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0" rIns="91440" bIns="0" rtlCol="0" anchor="ctr"/>
          <a:lstStyle/>
          <a:p>
            <a:pPr algn="l" indent="0" marL="0">
              <a:buNone/>
            </a:pPr>
            <a:r>
              <a:rPr lang="fr-FR" sz="1100" b="1" dirty="0">
                <a:solidFill>
                  <a:srgbClr val="1B3A6B"/>
                </a:solidFill>
                <a:latin typeface="Arial" pitchFamily="34" charset="0"/>
              </a:rPr>
              <a:t>Assitan Dravé</a:t>
            </a:r>
            <a:endParaRPr lang="fr-FR" dirty="0"/>
          </a:p>
        </p:txBody>
      </p:sp>
      <p:sp>
        <p:nvSpPr>
          <p:cNvPr id="31" name="ParamBar0"/>
          <p:cNvSpPr/>
          <p:nvPr/>
        </p:nvSpPr>
        <p:spPr>
          <a:xfrm>
            <a:off x="2700000" y="1500000"/>
            <a:ext cx="3430000" cy="28000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2" name="TNRBar0"/>
          <p:cNvSpPr/>
          <p:nvPr/>
        </p:nvSpPr>
        <p:spPr>
          <a:xfrm>
            <a:off x="6150000" y="1870000"/>
            <a:ext cx="5730000" cy="280000"/>
          </a:xfrm>
          <a:prstGeom prst="rect">
            <a:avLst/>
          </a:prstGeom>
          <a:solidFill>
            <a:srgbClr val="E63329"/>
          </a:solidFill>
        </p:spPr>
      </p:sp>
      <p:sp>
        <p:nvSpPr>
          <p:cNvPr id="34" name="ConsName1"/>
          <p:cNvSpPr/>
          <p:nvPr/>
        </p:nvSpPr>
        <p:spPr>
          <a:xfrm>
            <a:off x="274320" y="2230000"/>
            <a:ext cx="2400000" cy="740000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0" rIns="91440" bIns="0" rtlCol="0" anchor="ctr"/>
          <a:lstStyle/>
          <a:p>
            <a:pPr algn="l" indent="0" marL="0">
              <a:buNone/>
            </a:pPr>
            <a:r>
              <a:rPr lang="fr-FR" sz="1100" b="1" dirty="0">
                <a:solidFill>
                  <a:srgbClr val="1B3A6B"/>
                </a:solidFill>
                <a:latin typeface="Arial" pitchFamily="34" charset="0"/>
              </a:rPr>
              <a:t>Bertrand Essoua</a:t>
            </a:r>
            <a:endParaRPr lang="fr-FR" dirty="0"/>
          </a:p>
        </p:txBody>
      </p:sp>
      <p:sp>
        <p:nvSpPr>
          <p:cNvPr id="35" name="ParamBar1"/>
          <p:cNvSpPr/>
          <p:nvPr/>
        </p:nvSpPr>
        <p:spPr>
          <a:xfrm>
            <a:off x="2700000" y="2280000"/>
            <a:ext cx="3430000" cy="28000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6" name="TNRBar1"/>
          <p:cNvSpPr/>
          <p:nvPr/>
        </p:nvSpPr>
        <p:spPr>
          <a:xfrm>
            <a:off x="6150000" y="2650000"/>
            <a:ext cx="5730000" cy="280000"/>
          </a:xfrm>
          <a:prstGeom prst="rect">
            <a:avLst/>
          </a:prstGeom>
          <a:solidFill>
            <a:srgbClr val="E63329"/>
          </a:solidFill>
        </p:spPr>
      </p:sp>
      <p:sp>
        <p:nvSpPr>
          <p:cNvPr id="38" name="ConsName2"/>
          <p:cNvSpPr/>
          <p:nvPr/>
        </p:nvSpPr>
        <p:spPr>
          <a:xfrm>
            <a:off x="274320" y="3010000"/>
            <a:ext cx="2400000" cy="740000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0" rIns="91440" bIns="0" rtlCol="0" anchor="ctr"/>
          <a:lstStyle/>
          <a:p>
            <a:pPr algn="l" indent="0" marL="0">
              <a:buNone/>
            </a:pPr>
            <a:r>
              <a:rPr lang="fr-FR" sz="1100" b="1" dirty="0">
                <a:solidFill>
                  <a:srgbClr val="1B3A6B"/>
                </a:solidFill>
                <a:latin typeface="Arial" pitchFamily="34" charset="0"/>
              </a:rPr>
              <a:t>Camille Fobasso</a:t>
            </a:r>
            <a:endParaRPr lang="fr-FR" dirty="0"/>
          </a:p>
        </p:txBody>
      </p:sp>
      <p:sp>
        <p:nvSpPr>
          <p:cNvPr id="39" name="ParamBar2"/>
          <p:cNvSpPr/>
          <p:nvPr/>
        </p:nvSpPr>
        <p:spPr>
          <a:xfrm>
            <a:off x="2700000" y="3060000"/>
            <a:ext cx="3430000" cy="28000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40" name="TNRBar2"/>
          <p:cNvSpPr/>
          <p:nvPr/>
        </p:nvSpPr>
        <p:spPr>
          <a:xfrm>
            <a:off x="6150000" y="3430000"/>
            <a:ext cx="5730000" cy="280000"/>
          </a:xfrm>
          <a:prstGeom prst="rect">
            <a:avLst/>
          </a:prstGeom>
          <a:solidFill>
            <a:srgbClr val="E63329"/>
          </a:solidFill>
        </p:spPr>
      </p:sp>
      <p:sp>
        <p:nvSpPr>
          <p:cNvPr id="42" name="ConsName3"/>
          <p:cNvSpPr/>
          <p:nvPr/>
        </p:nvSpPr>
        <p:spPr>
          <a:xfrm>
            <a:off x="274320" y="3790000"/>
            <a:ext cx="2400000" cy="740000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0" rIns="91440" bIns="0" rtlCol="0" anchor="ctr"/>
          <a:lstStyle/>
          <a:p>
            <a:pPr algn="l" indent="0" marL="0">
              <a:buNone/>
            </a:pPr>
            <a:r>
              <a:rPr lang="fr-FR" sz="1100" b="1" dirty="0">
                <a:solidFill>
                  <a:srgbClr val="1B3A6B"/>
                </a:solidFill>
                <a:latin typeface="Arial" pitchFamily="34" charset="0"/>
              </a:rPr>
              <a:t>Claver Komoin</a:t>
            </a:r>
            <a:endParaRPr lang="fr-FR" dirty="0"/>
          </a:p>
        </p:txBody>
      </p:sp>
      <p:sp>
        <p:nvSpPr>
          <p:cNvPr id="43" name="ParamBar3"/>
          <p:cNvSpPr/>
          <p:nvPr/>
        </p:nvSpPr>
        <p:spPr>
          <a:xfrm>
            <a:off x="2700000" y="3840000"/>
            <a:ext cx="3430000" cy="28000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44" name="TNRBar3"/>
          <p:cNvSpPr/>
          <p:nvPr/>
        </p:nvSpPr>
        <p:spPr>
          <a:xfrm>
            <a:off x="7300000" y="4210000"/>
            <a:ext cx="4580000" cy="280000"/>
          </a:xfrm>
          <a:prstGeom prst="rect">
            <a:avLst/>
          </a:prstGeom>
          <a:solidFill>
            <a:srgbClr val="E63329"/>
          </a:solidFill>
        </p:spPr>
      </p:sp>
      <p:sp>
        <p:nvSpPr>
          <p:cNvPr id="46" name="ConsName4"/>
          <p:cNvSpPr/>
          <p:nvPr/>
        </p:nvSpPr>
        <p:spPr>
          <a:xfrm>
            <a:off x="274320" y="4570000"/>
            <a:ext cx="2400000" cy="740000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0" rIns="91440" bIns="0" rtlCol="0" anchor="ctr"/>
          <a:lstStyle/>
          <a:p>
            <a:pPr algn="l" indent="0" marL="0">
              <a:buNone/>
            </a:pPr>
            <a:r>
              <a:rPr lang="fr-FR" sz="1100" b="1" dirty="0">
                <a:solidFill>
                  <a:srgbClr val="1B3A6B"/>
                </a:solidFill>
                <a:latin typeface="Arial" pitchFamily="34" charset="0"/>
              </a:rPr>
              <a:t>Laryce Djieufack</a:t>
            </a:r>
            <a:endParaRPr lang="fr-FR" dirty="0"/>
          </a:p>
        </p:txBody>
      </p:sp>
      <p:sp>
        <p:nvSpPr>
          <p:cNvPr id="47" name="ParamBar4"/>
          <p:cNvSpPr/>
          <p:nvPr/>
        </p:nvSpPr>
        <p:spPr>
          <a:xfrm>
            <a:off x="2700000" y="4620000"/>
            <a:ext cx="3430000" cy="28000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48" name="TNRBar4"/>
          <p:cNvSpPr/>
          <p:nvPr/>
        </p:nvSpPr>
        <p:spPr>
          <a:xfrm>
            <a:off x="7300000" y="4990000"/>
            <a:ext cx="4580000" cy="280000"/>
          </a:xfrm>
          <a:prstGeom prst="rect">
            <a:avLst/>
          </a:prstGeom>
          <a:solidFill>
            <a:srgbClr val="E63329"/>
          </a:solidFill>
        </p:spPr>
      </p:sp>
      <p:sp>
        <p:nvSpPr>
          <p:cNvPr id="50" name="ConsName5"/>
          <p:cNvSpPr/>
          <p:nvPr/>
        </p:nvSpPr>
        <p:spPr>
          <a:xfrm>
            <a:off x="274320" y="5350000"/>
            <a:ext cx="2400000" cy="740000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0" rIns="91440" bIns="0" rtlCol="0" anchor="ctr"/>
          <a:lstStyle/>
          <a:p>
            <a:pPr algn="l" indent="0" marL="0">
              <a:buNone/>
            </a:pPr>
            <a:r>
              <a:rPr lang="fr-FR" sz="1100" b="1" dirty="0">
                <a:solidFill>
                  <a:srgbClr val="1B3A6B"/>
                </a:solidFill>
                <a:latin typeface="Arial" pitchFamily="34" charset="0"/>
              </a:rPr>
              <a:t>Trésor Jabong</a:t>
            </a:r>
            <a:endParaRPr lang="fr-FR" dirty="0"/>
          </a:p>
        </p:txBody>
      </p:sp>
      <p:sp>
        <p:nvSpPr>
          <p:cNvPr id="51" name="ParamBar5"/>
          <p:cNvSpPr/>
          <p:nvPr/>
        </p:nvSpPr>
        <p:spPr>
          <a:xfrm>
            <a:off x="2700000" y="5400000"/>
            <a:ext cx="3430000" cy="28000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52" name="TNRBar5"/>
          <p:cNvSpPr/>
          <p:nvPr/>
        </p:nvSpPr>
        <p:spPr>
          <a:xfrm>
            <a:off x="7300000" y="5770000"/>
            <a:ext cx="4580000" cy="280000"/>
          </a:xfrm>
          <a:prstGeom prst="rect">
            <a:avLst/>
          </a:prstGeom>
          <a:solidFill>
            <a:srgbClr val="E63329"/>
          </a:solidFill>
        </p:spPr>
      </p:sp>
      <p:sp>
        <p:nvSpPr>
          <p:cNvPr id="90" name="Footer"/>
          <p:cNvSpPr/>
          <p:nvPr/>
        </p:nvSpPr>
        <p:spPr>
          <a:xfrm>
            <a:off x="274320" y="6500000"/>
            <a:ext cx="11500000" cy="2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54565A"/>
                </a:solidFill>
                <a:latin typeface="Arial" pitchFamily="34" charset="0"/>
              </a:rPr>
              <a:t>All Rights Reserved © 2026  |  CAPITAL BANKING SOLUTIONS</a:t>
            </a:r>
            <a:endParaRPr lang="fr-FR" dirty="0"/>
          </a:p>
        </p:txBody>
      </p:sp>
      <p:sp>
        <p:nvSpPr>
          <p:cNvPr id="91" name="SlideNum"/>
          <p:cNvSpPr/>
          <p:nvPr/>
        </p:nvSpPr>
        <p:spPr>
          <a:xfrm>
            <a:off x="11200000" y="150000"/>
            <a:ext cx="700000" cy="3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1100" dirty="0">
                <a:solidFill>
                  <a:srgbClr val="54565A"/>
                </a:solidFill>
                <a:latin typeface="Arial" pitchFamily="34" charset="0"/>
              </a:rPr>
              <a:t>16</a:t>
            </a:r>
            <a:endParaRPr lang="fr-F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dBar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pic>
        <p:nvPicPr>
          <p:cNvPr id="2" name="Logo" descr="CB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457200"/>
            <a:ext cx="3749040" cy="1645920"/>
          </a:xfrm>
          <a:prstGeom prst="rect">
            <a:avLst/>
          </a:prstGeom>
        </p:spPr>
      </p:pic>
      <p:sp>
        <p:nvSpPr>
          <p:cNvPr id="20" name="Line"/>
          <p:cNvSpPr/>
          <p:nvPr/>
        </p:nvSpPr>
        <p:spPr>
          <a:xfrm>
            <a:off x="2743200" y="2331720"/>
            <a:ext cx="6702552" cy="9144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4" name="T1"/>
          <p:cNvSpPr/>
          <p:nvPr/>
        </p:nvSpPr>
        <p:spPr>
          <a:xfrm>
            <a:off x="731520" y="25146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3600" b="1" dirty="0">
                <a:solidFill>
                  <a:srgbClr val="000000"/>
                </a:solidFill>
                <a:latin typeface="Arial" pitchFamily="34" charset="0"/>
              </a:rPr>
              <a:t>Merci pour votre attention</a:t>
            </a:r>
            <a:endParaRPr lang="fr-FR" dirty="0"/>
          </a:p>
        </p:txBody>
      </p:sp>
      <p:sp>
        <p:nvSpPr>
          <p:cNvPr id="5" name="T2"/>
          <p:cNvSpPr/>
          <p:nvPr/>
        </p:nvSpPr>
        <p:spPr>
          <a:xfrm>
            <a:off x="731520" y="3246120"/>
            <a:ext cx="1072591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2000" b="1" dirty="0">
                <a:solidFill>
                  <a:srgbClr val="E63329"/>
                </a:solidFill>
                <a:latin typeface="Arial" pitchFamily="34" charset="0"/>
              </a:rPr>
              <a:t>Place aux échanges et questions</a:t>
            </a:r>
            <a:endParaRPr lang="fr-FR" dirty="0"/>
          </a:p>
        </p:txBody>
      </p:sp>
      <p:sp>
        <p:nvSpPr>
          <p:cNvPr id="6" name="T3"/>
          <p:cNvSpPr/>
          <p:nvPr/>
        </p:nvSpPr>
        <p:spPr>
          <a:xfrm>
            <a:off x="731520" y="3858768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1400" dirty="0">
                <a:solidFill>
                  <a:srgbClr val="54565A"/>
                </a:solidFill>
                <a:latin typeface="Arial" pitchFamily="34" charset="0"/>
              </a:rPr>
              <a:t>CBS — Équipe Upgrade BOA Groupe  |  23 mars 2026</a:t>
            </a:r>
            <a:endParaRPr lang="fr-FR" dirty="0"/>
          </a:p>
        </p:txBody>
      </p:sp>
      <p:sp>
        <p:nvSpPr>
          <p:cNvPr id="8" name="RedBarBot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</p:sp>
      <p:sp>
        <p:nvSpPr>
          <p:cNvPr id="9" name="FootTxt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900" dirty="0">
                <a:solidFill>
                  <a:srgbClr val="FFFFFF"/>
                </a:solidFill>
                <a:latin typeface="Arial" pitchFamily="34" charset="0"/>
              </a:rPr>
              <a:t>CAPITAL BANKING SOLUTIONS – TOUS DROITS RÉSERVÉS</a:t>
            </a:r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 CI – Kickoff Filiale Pilote Upgrade IGOR V4</dc:title>
  <dc:subject>PptxGenJS Presentation</dc:subject>
  <dc:creator>Capital Banking Solutions</dc:creator>
  <cp:lastModifiedBy>Capital Banking Solutions</cp:lastModifiedBy>
  <cp:revision>1</cp:revision>
  <dcterms:created xsi:type="dcterms:W3CDTF">2026-02-28T00:46:16Z</dcterms:created>
  <dcterms:modified xsi:type="dcterms:W3CDTF">2026-02-28T00:46:16Z</dcterms:modified>
</cp:coreProperties>
</file>